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1159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C36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389120"/>
            <a:ext cx="4114800" cy="411480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146304" cy="146304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606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IPL ANALYTICS SQL PROJECT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6118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8-Table Relational Database &amp; 20 Analytical Queries — from Joins to Self-Joins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 •  players  •  seasons  •  matches  •  innings  •  ball_by_ball  •  player_match_stats  •  auctions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self-contained SQL portfolio project built around a fictional but realistic IPL analytics database.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83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a normalized 8-table schema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671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Teams, players, seasons, matches, innings, ball-by-ball, player stats, and auctions — with full primary/foreign key relationships.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346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 a realistic synthetic dataset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players, 600 matches, and over 38,000 rows total, referentially consistent end to end.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86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Wrote 20 analytical queries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27024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joins, aggregation, window functions, subqueries, CTEs, and a self-join comparison.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937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every query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3218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was executed against the live dataset and checked for correct, sensible output.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Schema — 8 Tables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links back to teams and players, forming one connected relational model.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92808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franchises — name, city, owner, founded year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4448" y="1892808"/>
            <a:ext cx="365760" cy="36576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7432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players — role, batting/bowling style, nationality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892808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7432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seasons (2015–2024) — champion, orange &amp; purple cap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69164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53728" y="1892808"/>
            <a:ext cx="365760" cy="36576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354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27432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matches — venue, toss, result, player of the match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4087368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innings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937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 innings — runs, wickets, overs per side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83280" y="388620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84448" y="4087368"/>
            <a:ext cx="365760" cy="36576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616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ball_by_ball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937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22,800 deliveries — batsman, bowler, runs, dismissals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88620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087368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player_match_stats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4937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13,200 rows — runs, wickets, catches per player per match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052560" y="3886200"/>
            <a:ext cx="269748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53728" y="4087368"/>
            <a:ext cx="365760" cy="36576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3544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auctions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35440" y="4937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603 records — sold price, base price, retention flag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C3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1828800"/>
            <a:ext cx="4572000" cy="457200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at a Glance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~38,000 rows, fully referentially consistent across all 8 tables.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116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20116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0116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52560" y="18288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52560" y="20116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0690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377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Innings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83280" y="38862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3280" y="40690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22,800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49377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Ball-by-ball rows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8862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40690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13,200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9377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Player-match stats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52560" y="3886200"/>
            <a:ext cx="2697480" cy="1828800"/>
          </a:xfrm>
          <a:prstGeom prst="roundRect">
            <a:avLst>
              <a:gd name="adj" fmla="val 3500"/>
            </a:avLst>
          </a:prstGeom>
          <a:solidFill>
            <a:srgbClr val="12294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52560" y="40690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603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9052560" y="49377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records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C3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5029200"/>
            <a:ext cx="3291840" cy="329184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Foundational Queries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Joins, filtering, team-level aggregations &amp; a self-join head-to-head — questions 1 through 10.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FOUNDATIONAL QUERIES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 at Eden Gardens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matches to teams three separate times to resolve team1, team2, and the winning team's names for one venue.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m.match_id, t1.team_name, t2.team_name,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tw.team_name AS winner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matches m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t1 ON m.team1_id = t1.team_id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m.venue = 'Eden Gardens, Kolkata';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matches were played at Eden Gardens across 10 seasons — a clean demo of multi-aliasing one table for different roles in a join.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All-Rounders on Mumbai Indians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players to teams, filtered by role and team name — a straightforward WHERE + JOIN pattern.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p.player_name, p.nationality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players p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 ON p.current_team_id = t.team_id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p.role = 'All-Rounder'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t.team_name = 'Mumbai Indians';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3 all-rounders: Angel Perez, Jacob Wood, and Timothy Wong — the squad's all-round depth in one glance.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FOUNDATIONAL QUERIES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 Winner + Orange Cap Holder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seasons to teams (for the champion) and to players (for the top run-scorer) — one row per season.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s.year, tw.team_name, p.player_name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seasons s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tw ON s.winner_team_id = tw.team_id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players p ON s.orange_cap_player_id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 p.player_id;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Indians won 3 of the last 10 seasons (2020, 2023, 2024) — the most successful franchise in this dataset.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Toss Winner = Match Winner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two foreign keys on the same row (toss_winner_id vs winner_team_id) to test a hypothesis.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m.match_id, tw.team_name, m.toss_decision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matches m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tw ON m.toss_winner_id = tw.team_id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m.toss_winner_id = m.winner_team_id;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of 600 matches (50.5%) had the toss winner also win — split almost evenly between batting first (143) and fielding first (160).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331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FOUNDATIONAL QUERIES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Wins Per Team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GROUP BY + COUNT leaderboard across the whole matches table.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t.team_name, COUNT(*) AS total_wins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matches m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 ON m.winner_team_id = t.team_id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t.team_name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total_wins DESC;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Capitals leads with 80 wins. The spread across all 8 teams (68–80) is tight, as expected in a randomized dataset.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 Runs Per Innings Per Team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+ AVG on the innings table, joined to teams via the batting side.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t.team_name, ROUND(AVG(i.total_runs),2)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innings i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teams t ON i.batting_team_id = t.team_id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t.team_name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2 DESC;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Sunrisers Hyderabad average the highest (178.19 runs/innings); Chennai Super Kings the lowest (171.68) — under a 7-run spread.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FOUNDATIONAL QUERIES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 Per Venue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GROUP BY + COUNT to find how evenly matches were distributed across grounds.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venue, COUNT(*) AS matches_played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matches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venue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matches_played DESC;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Chennai's M.A. Chidambaram Stadium is busiest (70 matches); Dr. DY Patil, Navi Mumbai the quietest (47).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All-Rounders by Value Score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composite metric (runs + wickets×20) to rank all-round contribution in a single number.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p.player_name,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SUM(runs_scored) + SUM(wickets_taken)*20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value_score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player_match_stats pms JOIN players p ...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p.player_name ORDER BY value_score DESC;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Deleon leads with a 5,292 value score (4,432 runs + 43 wickets) — mostly driven by batting volume, not bowling.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FOUNDATIONAL QUERIES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Toss-Decision Split by Venue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aggregation — a CASE expression nested inside SUM() pivots one column into two.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venue,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SUM(CASE WHEN toss_decision='Bat' THEN 1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ELSE 0 END) AS bat_first,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SUM(CASE WHEN toss_decision='Field' THEN 1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ELSE 0 END) AS field_first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matches GROUP BY venue;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venue leans slightly toward fielding first; Eden Gardens is the most pronounced (25 bat vs 38 field).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Head-to-Head: MI vs CSK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self-join on matches (aliased twice via teams) checks both team-order permutations for one specific rivalry.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SUM(CASE WHEN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m.winner_team_id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t1.team_id THEN 1 ELSE 0 END)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mi_wins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 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SUM(CASE WHEN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m.winner_team_id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t2.team_id THEN 1 ELSE 0 END)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csk_wins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(team1_id=t1.id AND team2_id=t2.id)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(team1_id=t2.id AND team2_id=t1.id)</a:t>
            </a:r>
          </a:p>
          <a:p>
            <a:pPr marL="0" indent="0">
              <a:lnSpc>
                <a:spcPct val="115000"/>
              </a:lnSpc>
              <a:buNone/>
            </a:pPr>
            <a:endParaRPr lang="en-US" sz="950" dirty="0">
              <a:solidFill>
                <a:srgbClr val="20293A"/>
              </a:solidFill>
              <a:latin typeface="Courier New" pitchFamily="34" charset="0"/>
              <a:cs typeface="Courier New" pitchFamily="34" charset="-120"/>
            </a:endParaRPr>
          </a:p>
          <a:p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head-to-head matches on record — Chennai Super Kings narrowly ahead, 9 wins to 8.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C3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5029200"/>
            <a:ext cx="3291840" cy="329184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 Functions, Subqueries &amp; CTEs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7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Rankings, running totals, trend analysis, nested logic &amp; a bowling-economy deep dive — questions 11 through 20.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WINDOW FUNCTIONS, SUBQUERIES &amp; CTES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Teams Per Season by Wins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CTE counts wins per team per season, then RANK() reorders within each year via PARTITION BY.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year, team_name, wins,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RANK() OVER (PARTITION BY year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ORDER BY wins DESC) AS season_rank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team_wins;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produced a 3-way tie at rank 1 (Delhi, Punjab, Rajasthan all on 10 wins) — RANK() correctly gives ties the same rank and skips ahead.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Total of Runs Per Batsman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SUM() OVER with an ORDER BY builds a cumulative career tally, resetting per player via PARTITION BY.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player_id, match_date, runs_scored,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SUM(runs_scored) OVER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PARTITION BY player_id ORDER BY match_date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AS running_total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batting;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 carry seamlessly across season boundaries since the partition is by player only — a reminder that PARTITION BY scope matters.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WINDOW FUNCTIONS, SUBQUERIES &amp; CTES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3 Run-Scorers Per Season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CTE: sum runs per player per season, then DENSE_RANK() within each year — filtering on a window result needs the CTE wrapper.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ranked AS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*, DENSE_RANK() OVER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PARTITION BY year ORDER BY total_runs DESC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AS rnk FROM season_runs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ranked WHERE rnk &lt;= 3;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sz="1150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Nicholas Martin's 886 runs in 2015 is the single highest season total appearing in any year's top 3.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Season-Over-Season Win Trend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LAG() looks one row back within each team's own year-ordered timeline to compare current vs previous season.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year, team_name, wins,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LAG(wins) OVER (PARTITION BY team_id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ORDER BY year) AS prev_wins,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WHEN wins &gt; prev_wins THEN 'Improved'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... END AS trend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team_wins;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sz="1150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Indians dipped from 11 wins (2015) to 8 (2016), plateaued, then 'Improved' again in 2019 and 2024 — form visible at a glance.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331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WINDOW FUNCTIONS, SUBQUERIES &amp; CTES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Players Above Average Career Runs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CTE totals career runs per player; the outer query compares each total to the league-wide AVG via a scalar subquery.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212848"/>
            <a:ext cx="4983480" cy="1673352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212848"/>
            <a:ext cx="476402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player_totals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SUM(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runs_scored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total_runs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FROM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player_match_stats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GROUP BY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p.player_name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pt.total_runs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player_totals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players p ON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pt.player_id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p.player_id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pt.total_runs &gt;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AVG(total_runs) FROM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player_totals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cs typeface="Courier New" pitchFamily="34" charset="-120"/>
              </a:rPr>
              <a:t>  ORDER BY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cs typeface="Courier New" pitchFamily="34" charset="-120"/>
              </a:rPr>
              <a:t>pt.total_runs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cs typeface="Courier New" pitchFamily="34" charset="-120"/>
              </a:rPr>
              <a:t> DESC;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of 176 players (48%) beat the league average of 3,550.8 runs — topped by Travis Miller at 4,478.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Run Rate Proxy Per Team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CTEs (runs scored, runs conceded, matches played via UNION ALL) combine into one differential-per-match metric.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212848"/>
            <a:ext cx="4983480" cy="1673352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326681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batting_runs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 ),</a:t>
            </a:r>
          </a:p>
          <a:p>
            <a:pPr>
              <a:lnSpc>
                <a:spcPct val="115000"/>
              </a:lnSpc>
            </a:pP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bowling_runs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AS(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   ),</a:t>
            </a:r>
          </a:p>
          <a:p>
            <a:pPr>
              <a:lnSpc>
                <a:spcPct val="115000"/>
              </a:lnSpc>
            </a:pP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matches_played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...),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team_name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(runs_scored - runs_conceded)*1.0 / matches AS nrr_proxy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... ORDER BY nrr_proxy DESC;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Sunrisers Hyderabad has the best differential (+7.58/match); Punjab Kings the worst (−8.52) — a simplified stand-in for real NRR.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WINDOW FUNCTIONS, SUBQUERIES &amp; CTES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Player-of-the-Match Awards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subquery counts POM awards per player; the outer query matches back to whichever count equals the overall MAX.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66848"/>
            <a:ext cx="4983480" cy="1856512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1668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p.player_name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t.cnt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pom_awards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(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player_of_match_id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COUNT(*)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FROM matches 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 BY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player_of_match_id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)t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players p ON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t.player_of_match_id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p.player_id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t.cnt =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MAX(cnt) FROM (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COUNT(*) AS cnt FROM matches</a:t>
            </a:r>
            <a:endParaRPr lang="en-US" sz="9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 BY player_of_match_id) x);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411480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Coleman leads with 11 Player-of-the-Match awards — the single most decorated player in the dataset.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“Overpriced Signing” Detector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CTE computes each team's average sold price per season; the outer query flags players bought above that average.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166848"/>
            <a:ext cx="4983480" cy="182880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team_season_avg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..., ROUND(tsa.avg_price,0)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team_avg_price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...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a.sold_price &gt;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tsa.avg_price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/>
              <a:t>ORDER BY </a:t>
            </a:r>
            <a:r>
              <a:rPr lang="en-US" sz="950" dirty="0" err="1"/>
              <a:t>s.year</a:t>
            </a:r>
            <a:r>
              <a:rPr lang="en-US" sz="950" dirty="0"/>
              <a:t>, </a:t>
            </a:r>
            <a:r>
              <a:rPr lang="en-US" sz="950" dirty="0" err="1"/>
              <a:t>a.sold_price</a:t>
            </a:r>
            <a:r>
              <a:rPr lang="en-US" sz="950" dirty="0"/>
              <a:t> DESC;</a:t>
            </a:r>
          </a:p>
        </p:txBody>
      </p:sp>
      <p:sp>
        <p:nvSpPr>
          <p:cNvPr id="20" name="Shape 18"/>
          <p:cNvSpPr/>
          <p:nvPr/>
        </p:nvSpPr>
        <p:spPr>
          <a:xfrm>
            <a:off x="6455664" y="4118066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auction records (about half) were priced above their own team's season average — e.g. Patrick Wells at ₹3Cr for Punjab Kings, 2015.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WINDOW FUNCTIONS, SUBQUERIES &amp; CTES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Query (Multi-Step CTE)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chained CTEs: per-match runs → each player's own average → count of matches beating their personal average.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267712"/>
            <a:ext cx="4983480" cy="1618488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338998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player_match_runs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(...),</a:t>
            </a:r>
          </a:p>
          <a:p>
            <a:pPr>
              <a:lnSpc>
                <a:spcPct val="115000"/>
              </a:lnSpc>
            </a:pP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player_avg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(...),</a:t>
            </a:r>
          </a:p>
          <a:p>
            <a:pPr>
              <a:lnSpc>
                <a:spcPct val="115000"/>
              </a:lnSpc>
            </a:pP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above_avg_matches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(...)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p.player_name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COUNT(*) AS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matches_above_own_avg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above_avg_matches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aam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players p ON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aam.player_id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p.player_idGROUP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p.player_name</a:t>
            </a:r>
            <a:endParaRPr lang="en-US" sz="950" dirty="0">
              <a:solidFill>
                <a:srgbClr val="20293A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&gt;= 3</a:t>
            </a:r>
          </a:p>
          <a:p>
            <a:pPr>
              <a:lnSpc>
                <a:spcPct val="115000"/>
              </a:lnSpc>
            </a:pP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lang="en-US" sz="950" dirty="0" err="1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matches_above_own_avg</a:t>
            </a:r>
            <a:r>
              <a:rPr lang="en-US" sz="950" dirty="0">
                <a:solidFill>
                  <a:srgbClr val="202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DESC;</a:t>
            </a:r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176 players cleared their own average in at least 3 matches — Mark Cannon the most consistent, doing so 48 times.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199632" y="777240"/>
            <a:ext cx="5532120" cy="5532120"/>
          </a:xfrm>
          <a:prstGeom prst="roundRect">
            <a:avLst>
              <a:gd name="adj" fmla="val 132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55664" y="1033272"/>
            <a:ext cx="457200" cy="45720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1033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996696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Death-Overs (16–20) Economy Leaderboard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4592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ball_by_ball to overs 16–20, sums runs conceded, and divides by an approximate overs-bowled count.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4688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EDEF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542032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50" dirty="0"/>
              <a:t>WHERE </a:t>
            </a:r>
            <a:r>
              <a:rPr lang="en-US" sz="950" dirty="0" err="1"/>
              <a:t>over_number</a:t>
            </a:r>
            <a:r>
              <a:rPr lang="en-US" sz="950" dirty="0"/>
              <a:t> BETWEEN 16 AND 20</a:t>
            </a:r>
          </a:p>
          <a:p>
            <a:pPr>
              <a:lnSpc>
                <a:spcPct val="115000"/>
              </a:lnSpc>
            </a:pPr>
            <a:r>
              <a:rPr lang="en-US" sz="950" dirty="0"/>
              <a:t>...</a:t>
            </a:r>
          </a:p>
          <a:p>
            <a:pPr>
              <a:lnSpc>
                <a:spcPct val="115000"/>
              </a:lnSpc>
            </a:pPr>
            <a:r>
              <a:rPr lang="en-US" sz="950" dirty="0"/>
              <a:t>SUM(</a:t>
            </a:r>
            <a:r>
              <a:rPr lang="en-US" sz="950" dirty="0" err="1"/>
              <a:t>runs_scored</a:t>
            </a:r>
            <a:r>
              <a:rPr lang="en-US" sz="950" dirty="0"/>
              <a:t> + extras) AS </a:t>
            </a:r>
            <a:r>
              <a:rPr lang="en-US" sz="950" dirty="0" err="1"/>
              <a:t>runs_conceded</a:t>
            </a:r>
            <a:r>
              <a:rPr lang="en-US" sz="950" dirty="0"/>
              <a:t>,</a:t>
            </a:r>
          </a:p>
          <a:p>
            <a:pPr>
              <a:lnSpc>
                <a:spcPct val="115000"/>
              </a:lnSpc>
            </a:pPr>
            <a:r>
              <a:rPr lang="en-US" sz="950" dirty="0"/>
              <a:t>COUNT(*) / 6.0 AS </a:t>
            </a:r>
            <a:r>
              <a:rPr lang="en-US" sz="950" dirty="0" err="1"/>
              <a:t>overs_bowled_approx</a:t>
            </a:r>
            <a:endParaRPr lang="en-US" sz="950" dirty="0"/>
          </a:p>
          <a:p>
            <a:pPr>
              <a:lnSpc>
                <a:spcPct val="115000"/>
              </a:lnSpc>
            </a:pPr>
            <a:r>
              <a:rPr lang="en-US" sz="950" dirty="0"/>
              <a:t>...</a:t>
            </a:r>
          </a:p>
          <a:p>
            <a:pPr>
              <a:lnSpc>
                <a:spcPct val="115000"/>
              </a:lnSpc>
            </a:pPr>
            <a:r>
              <a:rPr lang="en-US" sz="950" dirty="0" err="1"/>
              <a:t>runs_conceded</a:t>
            </a:r>
            <a:r>
              <a:rPr lang="en-US" sz="950" dirty="0"/>
              <a:t> / </a:t>
            </a:r>
            <a:r>
              <a:rPr lang="en-US" sz="950" dirty="0" err="1"/>
              <a:t>overs_bowled_approx</a:t>
            </a:r>
            <a:r>
              <a:rPr lang="en-US" sz="950" dirty="0"/>
              <a:t> AS </a:t>
            </a:r>
            <a:r>
              <a:rPr lang="en-US" sz="950" dirty="0" err="1"/>
              <a:t>economy_rate</a:t>
            </a:r>
            <a:endParaRPr lang="en-US" sz="950" dirty="0"/>
          </a:p>
          <a:p>
            <a:pPr>
              <a:lnSpc>
                <a:spcPct val="115000"/>
              </a:lnSpc>
            </a:pPr>
            <a:r>
              <a:rPr lang="en-US" sz="950" dirty="0"/>
              <a:t>ORDER BY </a:t>
            </a:r>
            <a:r>
              <a:rPr lang="en-US" sz="950" dirty="0" err="1"/>
              <a:t>economy_rate</a:t>
            </a:r>
            <a:r>
              <a:rPr lang="en-US" sz="950" dirty="0"/>
              <a:t> ASC LIMIT 5;</a:t>
            </a:r>
          </a:p>
        </p:txBody>
      </p:sp>
      <p:sp>
        <p:nvSpPr>
          <p:cNvPr id="20" name="Shape 18"/>
          <p:cNvSpPr/>
          <p:nvPr/>
        </p:nvSpPr>
        <p:spPr>
          <a:xfrm>
            <a:off x="6473952" y="4023360"/>
            <a:ext cx="4983480" cy="2011680"/>
          </a:xfrm>
          <a:prstGeom prst="roundRect">
            <a:avLst>
              <a:gd name="adj" fmla="val 2727"/>
            </a:avLst>
          </a:prstGeom>
          <a:solidFill>
            <a:srgbClr val="FFF0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4114800"/>
            <a:ext cx="47640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r>
              <a:rPr lang="en-US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 Gilbert posts the best death-overs economy (5.08) — though based on a 20-ball sample per innings, so treat this as a methodology template.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C36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2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8229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1993392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184708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schema, a full range of SQL technique: basic joins through window functions, subqueries, CTEs, and a self-join, all on the same 8 tables.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862072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7157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was run and validated against the live dataset — not just written, but proven correct.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730752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limitations were surfaced along the way (sampled ball-by-ball data, independently-random runs/balls) — and documented rather than hidden.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599432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44531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 template: swap in real IPL data and every query here still runs unchanged.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943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2759</Words>
  <Application>Microsoft Office PowerPoint</Application>
  <PresentationFormat>Widescreen</PresentationFormat>
  <Paragraphs>295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Indrajeet Mourya</cp:lastModifiedBy>
  <cp:revision>2</cp:revision>
  <dcterms:created xsi:type="dcterms:W3CDTF">2026-09-05T08:10:40Z</dcterms:created>
  <dcterms:modified xsi:type="dcterms:W3CDTF">2026-09-05T10:10:57Z</dcterms:modified>
</cp:coreProperties>
</file>