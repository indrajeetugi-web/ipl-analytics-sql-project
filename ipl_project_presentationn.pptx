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311593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C36"/>
          </a:solidFill>
          <a:ln/>
        </p:spPr>
      </p:sp>
      <p:sp>
        <p:nvSpPr>
          <p:cNvPr id="3" name="Shape 1"/>
          <p:cNvSpPr/>
          <p:nvPr/>
        </p:nvSpPr>
        <p:spPr>
          <a:xfrm>
            <a:off x="8961120" y="-2011680"/>
            <a:ext cx="5486400" cy="5486400"/>
          </a:xfrm>
          <a:prstGeom prst="ellipse">
            <a:avLst/>
          </a:prstGeom>
          <a:solidFill>
            <a:srgbClr val="12294B"/>
          </a:solidFill>
          <a:ln/>
        </p:spPr>
      </p:sp>
      <p:sp>
        <p:nvSpPr>
          <p:cNvPr id="4" name="Shape 2"/>
          <p:cNvSpPr/>
          <p:nvPr/>
        </p:nvSpPr>
        <p:spPr>
          <a:xfrm>
            <a:off x="-2011680" y="4389120"/>
            <a:ext cx="4114800" cy="4114800"/>
          </a:xfrm>
          <a:prstGeom prst="ellipse">
            <a:avLst/>
          </a:prstGeom>
          <a:solidFill>
            <a:srgbClr val="12294B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331720"/>
            <a:ext cx="146304" cy="146304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14400" y="260604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IPL ANALYTICS SQL PROJECT</a:t>
            </a:r>
            <a:endParaRPr lang="en-US" sz="42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361188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C7D0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8-Table Relational Database &amp; 20 Analytical Queries — from Joins to Self-Joins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457200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 •  players  •  seasons  •  matches  •  innings  •  ball_by_ball  •  player_match_stats  •  auctions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2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Overview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515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self-contained SQL portfolio project built around a fictional but realistic IPL analytics database.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457200" cy="45720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178308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2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Designed a normalized 8-table schema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2167128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Teams, players, seasons, matches, innings, ball-by-ball, player stats, and auctions — with full primary/foreign key relationships.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2880360"/>
            <a:ext cx="457200" cy="45720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48640" y="2880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234440" y="283464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2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Generated a realistic synthetic dataset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234440" y="3218688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176 players, 600 matches, and over 38,000 rows total, referentially consistent end to end.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3931920"/>
            <a:ext cx="457200" cy="45720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48640" y="3931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234440" y="388620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2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Wrote 20 analytical queries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234440" y="4270248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Covering joins, aggregation, window functions, subqueries, CTEs, and a self-join comparison.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48640" y="4983480"/>
            <a:ext cx="457200" cy="45720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48640" y="4983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1234440" y="493776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2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Validated every query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1234440" y="5321808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query was executed against the live dataset and checked for correct, sensible output.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2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 Schema — 8 Tables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515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table links back to teams and players, forming one connected relational model.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2697480" cy="1965960"/>
          </a:xfrm>
          <a:prstGeom prst="roundRect">
            <a:avLst>
              <a:gd name="adj" fmla="val 3256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888888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49808" y="1892808"/>
            <a:ext cx="365760" cy="36576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31520" y="237744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2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Teams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74320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franchises — name, city, owner, founded year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383280" y="1691640"/>
            <a:ext cx="2697480" cy="1965960"/>
          </a:xfrm>
          <a:prstGeom prst="roundRect">
            <a:avLst>
              <a:gd name="adj" fmla="val 3256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888888">
                <a:alpha val="2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584448" y="1892808"/>
            <a:ext cx="365760" cy="365760"/>
          </a:xfrm>
          <a:prstGeom prst="ellipse">
            <a:avLst/>
          </a:prstGeom>
          <a:solidFill>
            <a:srgbClr val="12294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566160" y="237744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2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Players</a:t>
            </a:r>
            <a:endParaRPr lang="en-US" sz="1450" dirty="0"/>
          </a:p>
        </p:txBody>
      </p:sp>
      <p:sp>
        <p:nvSpPr>
          <p:cNvPr id="12" name="Text 10"/>
          <p:cNvSpPr txBox="1"/>
          <p:nvPr/>
        </p:nvSpPr>
        <p:spPr>
          <a:xfrm>
            <a:off x="3566160" y="274320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176 players — role, batting/bowling style, nationality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217920" y="1691640"/>
            <a:ext cx="2697480" cy="1965960"/>
          </a:xfrm>
          <a:prstGeom prst="roundRect">
            <a:avLst>
              <a:gd name="adj" fmla="val 3256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888888">
                <a:alpha val="2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19088" y="1892808"/>
            <a:ext cx="365760" cy="36576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400800" y="237744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2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Seasons</a:t>
            </a:r>
            <a:endParaRPr lang="en-US" sz="1450" dirty="0"/>
          </a:p>
        </p:txBody>
      </p:sp>
      <p:sp>
        <p:nvSpPr>
          <p:cNvPr id="16" name="Text 14"/>
          <p:cNvSpPr txBox="1"/>
          <p:nvPr/>
        </p:nvSpPr>
        <p:spPr>
          <a:xfrm>
            <a:off x="6400800" y="274320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seasons (2015–2024) — champion, orange &amp; purple cap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9052560" y="1691640"/>
            <a:ext cx="2697480" cy="1965960"/>
          </a:xfrm>
          <a:prstGeom prst="roundRect">
            <a:avLst>
              <a:gd name="adj" fmla="val 3256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888888">
                <a:alpha val="2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9253728" y="1892808"/>
            <a:ext cx="365760" cy="365760"/>
          </a:xfrm>
          <a:prstGeom prst="ellipse">
            <a:avLst/>
          </a:prstGeom>
          <a:solidFill>
            <a:srgbClr val="12294B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9235440" y="237744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2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Matches</a:t>
            </a:r>
            <a:endParaRPr lang="en-US" sz="1450" dirty="0"/>
          </a:p>
        </p:txBody>
      </p:sp>
      <p:sp>
        <p:nvSpPr>
          <p:cNvPr id="20" name="Text 18"/>
          <p:cNvSpPr txBox="1"/>
          <p:nvPr/>
        </p:nvSpPr>
        <p:spPr>
          <a:xfrm>
            <a:off x="9235440" y="274320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600 matches — venue, toss, result, player of the match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48640" y="3886200"/>
            <a:ext cx="2697480" cy="1965960"/>
          </a:xfrm>
          <a:prstGeom prst="roundRect">
            <a:avLst>
              <a:gd name="adj" fmla="val 3256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888888">
                <a:alpha val="2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49808" y="4087368"/>
            <a:ext cx="365760" cy="36576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31520" y="457200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2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Innings</a:t>
            </a:r>
            <a:endParaRPr lang="en-US" sz="1450" dirty="0"/>
          </a:p>
        </p:txBody>
      </p:sp>
      <p:sp>
        <p:nvSpPr>
          <p:cNvPr id="24" name="Text 22"/>
          <p:cNvSpPr txBox="1"/>
          <p:nvPr/>
        </p:nvSpPr>
        <p:spPr>
          <a:xfrm>
            <a:off x="731520" y="493776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1,200 innings — runs, wickets, overs per side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383280" y="3886200"/>
            <a:ext cx="2697480" cy="1965960"/>
          </a:xfrm>
          <a:prstGeom prst="roundRect">
            <a:avLst>
              <a:gd name="adj" fmla="val 3256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888888">
                <a:alpha val="2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584448" y="4087368"/>
            <a:ext cx="365760" cy="365760"/>
          </a:xfrm>
          <a:prstGeom prst="ellipse">
            <a:avLst/>
          </a:prstGeom>
          <a:solidFill>
            <a:srgbClr val="12294B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3566160" y="457200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 err="1">
                <a:solidFill>
                  <a:srgbClr val="12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Ball_by_ball</a:t>
            </a:r>
            <a:endParaRPr lang="en-US" sz="1450" dirty="0"/>
          </a:p>
        </p:txBody>
      </p:sp>
      <p:sp>
        <p:nvSpPr>
          <p:cNvPr id="28" name="Text 26"/>
          <p:cNvSpPr txBox="1"/>
          <p:nvPr/>
        </p:nvSpPr>
        <p:spPr>
          <a:xfrm>
            <a:off x="3566160" y="493776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22,800 deliveries — batsman, bowler, runs, dismissals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217920" y="3886200"/>
            <a:ext cx="2697480" cy="1965960"/>
          </a:xfrm>
          <a:prstGeom prst="roundRect">
            <a:avLst>
              <a:gd name="adj" fmla="val 3256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888888">
                <a:alpha val="2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419088" y="4087368"/>
            <a:ext cx="365760" cy="36576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6400800" y="457200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 err="1">
                <a:solidFill>
                  <a:srgbClr val="12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Player_match_stats</a:t>
            </a:r>
            <a:endParaRPr lang="en-US" sz="1450" dirty="0"/>
          </a:p>
        </p:txBody>
      </p:sp>
      <p:sp>
        <p:nvSpPr>
          <p:cNvPr id="32" name="Text 30"/>
          <p:cNvSpPr txBox="1"/>
          <p:nvPr/>
        </p:nvSpPr>
        <p:spPr>
          <a:xfrm>
            <a:off x="6400800" y="493776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13,200 rows — runs, wickets, catches per player per match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9052560" y="3886200"/>
            <a:ext cx="2697480" cy="1965960"/>
          </a:xfrm>
          <a:prstGeom prst="roundRect">
            <a:avLst>
              <a:gd name="adj" fmla="val 3256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888888">
                <a:alpha val="2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9253728" y="4087368"/>
            <a:ext cx="365760" cy="365760"/>
          </a:xfrm>
          <a:prstGeom prst="ellipse">
            <a:avLst/>
          </a:prstGeom>
          <a:solidFill>
            <a:srgbClr val="12294B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9235440" y="457200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2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Auctions</a:t>
            </a:r>
            <a:endParaRPr lang="en-US" sz="1450" dirty="0"/>
          </a:p>
        </p:txBody>
      </p:sp>
      <p:sp>
        <p:nvSpPr>
          <p:cNvPr id="36" name="Text 34"/>
          <p:cNvSpPr txBox="1"/>
          <p:nvPr/>
        </p:nvSpPr>
        <p:spPr>
          <a:xfrm>
            <a:off x="9235440" y="493776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603 records — sold price, base price, retention flag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C36"/>
          </a:solidFill>
          <a:ln/>
        </p:spPr>
      </p:sp>
      <p:sp>
        <p:nvSpPr>
          <p:cNvPr id="3" name="Shape 1"/>
          <p:cNvSpPr/>
          <p:nvPr/>
        </p:nvSpPr>
        <p:spPr>
          <a:xfrm>
            <a:off x="9966960" y="-1828800"/>
            <a:ext cx="4572000" cy="4572000"/>
          </a:xfrm>
          <a:prstGeom prst="ellipse">
            <a:avLst/>
          </a:prstGeom>
          <a:solidFill>
            <a:srgbClr val="12294B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41148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at a Glance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5156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7D0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~38,000 rows, fully referentially consistent across all 8 tables.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2697480" cy="1828800"/>
          </a:xfrm>
          <a:prstGeom prst="roundRect">
            <a:avLst>
              <a:gd name="adj" fmla="val 3500"/>
            </a:avLst>
          </a:prstGeom>
          <a:solidFill>
            <a:srgbClr val="12294B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2011680"/>
            <a:ext cx="2697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6B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34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88036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C7D0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</a:t>
            </a: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3383280" y="1828800"/>
            <a:ext cx="2697480" cy="1828800"/>
          </a:xfrm>
          <a:prstGeom prst="roundRect">
            <a:avLst>
              <a:gd name="adj" fmla="val 3500"/>
            </a:avLst>
          </a:prstGeom>
          <a:solidFill>
            <a:srgbClr val="12294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383280" y="2011680"/>
            <a:ext cx="2697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6B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176</a:t>
            </a:r>
            <a:endParaRPr lang="en-US" sz="3400" dirty="0"/>
          </a:p>
        </p:txBody>
      </p:sp>
      <p:sp>
        <p:nvSpPr>
          <p:cNvPr id="11" name="Text 9"/>
          <p:cNvSpPr txBox="1"/>
          <p:nvPr/>
        </p:nvSpPr>
        <p:spPr>
          <a:xfrm>
            <a:off x="3383280" y="288036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C7D0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Players</a:t>
            </a: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6217920" y="1828800"/>
            <a:ext cx="2697480" cy="1828800"/>
          </a:xfrm>
          <a:prstGeom prst="roundRect">
            <a:avLst>
              <a:gd name="adj" fmla="val 3500"/>
            </a:avLst>
          </a:prstGeom>
          <a:solidFill>
            <a:srgbClr val="12294B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217920" y="2011680"/>
            <a:ext cx="2697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6B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3400" dirty="0"/>
          </a:p>
        </p:txBody>
      </p:sp>
      <p:sp>
        <p:nvSpPr>
          <p:cNvPr id="14" name="Text 12"/>
          <p:cNvSpPr txBox="1"/>
          <p:nvPr/>
        </p:nvSpPr>
        <p:spPr>
          <a:xfrm>
            <a:off x="6217920" y="288036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C7D0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Seasons</a:t>
            </a: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9052560" y="1828800"/>
            <a:ext cx="2697480" cy="1828800"/>
          </a:xfrm>
          <a:prstGeom prst="roundRect">
            <a:avLst>
              <a:gd name="adj" fmla="val 3500"/>
            </a:avLst>
          </a:prstGeom>
          <a:solidFill>
            <a:srgbClr val="12294B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052560" y="2011680"/>
            <a:ext cx="2697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6B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600</a:t>
            </a:r>
            <a:endParaRPr lang="en-US" sz="3400" dirty="0"/>
          </a:p>
        </p:txBody>
      </p:sp>
      <p:sp>
        <p:nvSpPr>
          <p:cNvPr id="17" name="Text 15"/>
          <p:cNvSpPr txBox="1"/>
          <p:nvPr/>
        </p:nvSpPr>
        <p:spPr>
          <a:xfrm>
            <a:off x="9052560" y="288036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C7D0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Matches</a:t>
            </a: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548640" y="3886200"/>
            <a:ext cx="2697480" cy="1828800"/>
          </a:xfrm>
          <a:prstGeom prst="roundRect">
            <a:avLst>
              <a:gd name="adj" fmla="val 3500"/>
            </a:avLst>
          </a:prstGeom>
          <a:solidFill>
            <a:srgbClr val="12294B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548640" y="4069080"/>
            <a:ext cx="2697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6B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1,200</a:t>
            </a:r>
            <a:endParaRPr lang="en-US" sz="34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493776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C7D0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Innings</a:t>
            </a: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3383280" y="3886200"/>
            <a:ext cx="2697480" cy="1828800"/>
          </a:xfrm>
          <a:prstGeom prst="roundRect">
            <a:avLst>
              <a:gd name="adj" fmla="val 3500"/>
            </a:avLst>
          </a:prstGeom>
          <a:solidFill>
            <a:srgbClr val="12294B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3383280" y="4069080"/>
            <a:ext cx="2697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6B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22,800</a:t>
            </a:r>
            <a:endParaRPr lang="en-US" sz="3400" dirty="0"/>
          </a:p>
        </p:txBody>
      </p:sp>
      <p:sp>
        <p:nvSpPr>
          <p:cNvPr id="23" name="Text 21"/>
          <p:cNvSpPr txBox="1"/>
          <p:nvPr/>
        </p:nvSpPr>
        <p:spPr>
          <a:xfrm>
            <a:off x="3383280" y="493776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C7D0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Ball-by-ball rows</a:t>
            </a:r>
            <a:endParaRPr lang="en-US" dirty="0"/>
          </a:p>
        </p:txBody>
      </p:sp>
      <p:sp>
        <p:nvSpPr>
          <p:cNvPr id="24" name="Shape 22"/>
          <p:cNvSpPr/>
          <p:nvPr/>
        </p:nvSpPr>
        <p:spPr>
          <a:xfrm>
            <a:off x="6217920" y="3886200"/>
            <a:ext cx="2697480" cy="1828800"/>
          </a:xfrm>
          <a:prstGeom prst="roundRect">
            <a:avLst>
              <a:gd name="adj" fmla="val 3500"/>
            </a:avLst>
          </a:prstGeom>
          <a:solidFill>
            <a:srgbClr val="12294B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217920" y="4069080"/>
            <a:ext cx="2697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6B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13,200</a:t>
            </a:r>
            <a:endParaRPr lang="en-US" sz="3400" dirty="0"/>
          </a:p>
        </p:txBody>
      </p:sp>
      <p:sp>
        <p:nvSpPr>
          <p:cNvPr id="26" name="Text 24"/>
          <p:cNvSpPr txBox="1"/>
          <p:nvPr/>
        </p:nvSpPr>
        <p:spPr>
          <a:xfrm>
            <a:off x="6217920" y="493776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C7D0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Player-match stats</a:t>
            </a:r>
            <a:endParaRPr lang="en-US" dirty="0"/>
          </a:p>
        </p:txBody>
      </p:sp>
      <p:sp>
        <p:nvSpPr>
          <p:cNvPr id="27" name="Shape 25"/>
          <p:cNvSpPr/>
          <p:nvPr/>
        </p:nvSpPr>
        <p:spPr>
          <a:xfrm>
            <a:off x="9052560" y="3886200"/>
            <a:ext cx="2697480" cy="1828800"/>
          </a:xfrm>
          <a:prstGeom prst="roundRect">
            <a:avLst>
              <a:gd name="adj" fmla="val 3500"/>
            </a:avLst>
          </a:prstGeom>
          <a:solidFill>
            <a:srgbClr val="12294B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9052560" y="4069080"/>
            <a:ext cx="2697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6B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603</a:t>
            </a:r>
            <a:endParaRPr lang="en-US" sz="3400" dirty="0"/>
          </a:p>
        </p:txBody>
      </p:sp>
      <p:sp>
        <p:nvSpPr>
          <p:cNvPr id="29" name="Text 27"/>
          <p:cNvSpPr txBox="1"/>
          <p:nvPr/>
        </p:nvSpPr>
        <p:spPr>
          <a:xfrm>
            <a:off x="9052560" y="493776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C7D0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Auction records</a:t>
            </a: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C36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-1645920"/>
            <a:ext cx="4754880" cy="4754880"/>
          </a:xfrm>
          <a:prstGeom prst="ellipse">
            <a:avLst/>
          </a:prstGeom>
          <a:solidFill>
            <a:srgbClr val="12294B"/>
          </a:solidFill>
          <a:ln/>
        </p:spPr>
      </p:sp>
      <p:sp>
        <p:nvSpPr>
          <p:cNvPr id="4" name="Shape 2"/>
          <p:cNvSpPr/>
          <p:nvPr/>
        </p:nvSpPr>
        <p:spPr>
          <a:xfrm>
            <a:off x="-1463040" y="5029200"/>
            <a:ext cx="3291840" cy="3291840"/>
          </a:xfrm>
          <a:prstGeom prst="ellipse">
            <a:avLst/>
          </a:prstGeom>
          <a:solidFill>
            <a:srgbClr val="12294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23317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788920"/>
            <a:ext cx="10058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Foundational Queries</a:t>
            </a:r>
            <a:endParaRPr lang="en-US" sz="34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97764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C7D0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Joins, filtering, team-level aggregations &amp; a self-join head-to-head — questions 1 through 10.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— FOUNDATIONAL QUERIES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5532120" cy="5532120"/>
          </a:xfrm>
          <a:prstGeom prst="roundRect">
            <a:avLst>
              <a:gd name="adj" fmla="val 1322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13232" y="1033272"/>
            <a:ext cx="457200" cy="45720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13232" y="10332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325880" y="996696"/>
            <a:ext cx="4434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2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Matches at Eden Gardens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1645920"/>
            <a:ext cx="4983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Joins matches to teams three separate times to resolve team1, team2, and the winning team's names for one venue.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31520" y="2468880"/>
            <a:ext cx="4983480" cy="1417320"/>
          </a:xfrm>
          <a:prstGeom prst="roundRect">
            <a:avLst>
              <a:gd name="adj" fmla="val 3871"/>
            </a:avLst>
          </a:prstGeom>
          <a:solidFill>
            <a:srgbClr val="EDEFF3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41248" y="2542032"/>
            <a:ext cx="476402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2029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m.match_id, t1.team_name, t2.team_name,</a:t>
            </a:r>
            <a:endParaRPr lang="en-US" sz="9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2029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tw.team_name AS winner</a:t>
            </a:r>
            <a:endParaRPr lang="en-US" sz="9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2029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matches m</a:t>
            </a:r>
            <a:endParaRPr lang="en-US" sz="9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2029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 teams t1 ON m.team1_id = t1.team_id</a:t>
            </a:r>
            <a:endParaRPr lang="en-US" sz="9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2029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...</a:t>
            </a:r>
            <a:endParaRPr lang="en-US" sz="9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2029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m.venue = 'Eden Gardens, Kolkata';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731520" y="4023360"/>
            <a:ext cx="4983480" cy="2011680"/>
          </a:xfrm>
          <a:prstGeom prst="roundRect">
            <a:avLst>
              <a:gd name="adj" fmla="val 2727"/>
            </a:avLst>
          </a:prstGeom>
          <a:solidFill>
            <a:srgbClr val="FFF0E8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41248" y="4114800"/>
            <a:ext cx="47640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Insight:  </a:t>
            </a:r>
            <a:r>
              <a:rPr lang="en-US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 matches were played at Eden Gardens across 10 seasons — a clean demo of multi-aliasing one table for different roles in a join.</a:t>
            </a: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6199632" y="777240"/>
            <a:ext cx="5532120" cy="5532120"/>
          </a:xfrm>
          <a:prstGeom prst="roundRect">
            <a:avLst>
              <a:gd name="adj" fmla="val 1322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55664" y="1033272"/>
            <a:ext cx="457200" cy="45720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455664" y="10332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7068312" y="996696"/>
            <a:ext cx="4434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2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All-Rounders on Mumbai Indians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6473952" y="1645920"/>
            <a:ext cx="4983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Joins players to teams, filtered by role and team name — a straightforward WHERE + JOIN pattern.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473952" y="2468880"/>
            <a:ext cx="4983480" cy="1417320"/>
          </a:xfrm>
          <a:prstGeom prst="roundRect">
            <a:avLst>
              <a:gd name="adj" fmla="val 3871"/>
            </a:avLst>
          </a:prstGeom>
          <a:solidFill>
            <a:srgbClr val="EDEFF3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583680" y="2542032"/>
            <a:ext cx="476402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2029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p.player_name, p.nationality</a:t>
            </a:r>
            <a:endParaRPr lang="en-US" sz="9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2029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players p</a:t>
            </a:r>
            <a:endParaRPr lang="en-US" sz="9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2029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 teams t ON p.current_team_id = t.team_id</a:t>
            </a:r>
            <a:endParaRPr lang="en-US" sz="9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2029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p.role = 'All-Rounder'</a:t>
            </a:r>
            <a:endParaRPr lang="en-US" sz="9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2029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AND t.team_name = 'Mumbai Indians';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473952" y="4023360"/>
            <a:ext cx="4983480" cy="2011680"/>
          </a:xfrm>
          <a:prstGeom prst="roundRect">
            <a:avLst>
              <a:gd name="adj" fmla="val 2727"/>
            </a:avLst>
          </a:prstGeom>
          <a:solidFill>
            <a:srgbClr val="FFF0E8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583680" y="4114800"/>
            <a:ext cx="47640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Insight:  </a:t>
            </a:r>
            <a:r>
              <a:rPr lang="en-US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3 all-rounders: Angel Perez, Jacob Wood, and Timothy Wong — the squad's all-round depth in one glance.</a:t>
            </a:r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— FOUNDATIONAL QUERIES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5532120" cy="5532120"/>
          </a:xfrm>
          <a:prstGeom prst="roundRect">
            <a:avLst>
              <a:gd name="adj" fmla="val 1322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13232" y="1033272"/>
            <a:ext cx="457200" cy="45720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13232" y="10332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325880" y="996696"/>
            <a:ext cx="4434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2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Season Winner + Orange Cap Holder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1645920"/>
            <a:ext cx="4983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Joins seasons to teams (for the champion) and to players (for the top run-scorer) — one row per season.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31520" y="2468880"/>
            <a:ext cx="4983480" cy="1417320"/>
          </a:xfrm>
          <a:prstGeom prst="roundRect">
            <a:avLst>
              <a:gd name="adj" fmla="val 3871"/>
            </a:avLst>
          </a:prstGeom>
          <a:solidFill>
            <a:srgbClr val="EDEFF3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41248" y="2542032"/>
            <a:ext cx="476402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2029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s.year, tw.team_name, p.player_name</a:t>
            </a:r>
            <a:endParaRPr lang="en-US" sz="9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2029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seasons s</a:t>
            </a:r>
            <a:endParaRPr lang="en-US" sz="9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2029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 teams tw ON s.winner_team_id = tw.team_id</a:t>
            </a:r>
            <a:endParaRPr lang="en-US" sz="9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2029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 players p ON s.orange_cap_player_id</a:t>
            </a:r>
            <a:endParaRPr lang="en-US" sz="9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2029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= p.player_id;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731520" y="4023360"/>
            <a:ext cx="4983480" cy="2011680"/>
          </a:xfrm>
          <a:prstGeom prst="roundRect">
            <a:avLst>
              <a:gd name="adj" fmla="val 2727"/>
            </a:avLst>
          </a:prstGeom>
          <a:solidFill>
            <a:srgbClr val="FFF0E8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41248" y="4114800"/>
            <a:ext cx="47640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Insight:  </a:t>
            </a:r>
            <a:r>
              <a:rPr lang="en-US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Mumbai Indians won 3 of the last 10 seasons (2020, 2023, 2024) — the most successful franchise in this dataset.</a:t>
            </a: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6199632" y="777240"/>
            <a:ext cx="5532120" cy="5532120"/>
          </a:xfrm>
          <a:prstGeom prst="roundRect">
            <a:avLst>
              <a:gd name="adj" fmla="val 1322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55664" y="1033272"/>
            <a:ext cx="457200" cy="45720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455664" y="10332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7068312" y="996696"/>
            <a:ext cx="4434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2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Toss Winner = Match Winner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6473952" y="1645920"/>
            <a:ext cx="4983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Compares two foreign keys on the same row (toss_winner_id vs winner_team_id) to test a hypothesis.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473952" y="2468880"/>
            <a:ext cx="4983480" cy="1417320"/>
          </a:xfrm>
          <a:prstGeom prst="roundRect">
            <a:avLst>
              <a:gd name="adj" fmla="val 3871"/>
            </a:avLst>
          </a:prstGeom>
          <a:solidFill>
            <a:srgbClr val="EDEFF3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583680" y="2542032"/>
            <a:ext cx="476402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2029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m.match_id, tw.team_name, m.toss_decision</a:t>
            </a:r>
            <a:endParaRPr lang="en-US" sz="9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2029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matches m</a:t>
            </a:r>
            <a:endParaRPr lang="en-US" sz="9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2029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 teams tw ON m.toss_winner_id = tw.team_id</a:t>
            </a:r>
            <a:endParaRPr lang="en-US" sz="9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2029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m.toss_winner_id = m.winner_team_id;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473952" y="4023360"/>
            <a:ext cx="4983480" cy="2011680"/>
          </a:xfrm>
          <a:prstGeom prst="roundRect">
            <a:avLst>
              <a:gd name="adj" fmla="val 2727"/>
            </a:avLst>
          </a:prstGeom>
          <a:solidFill>
            <a:srgbClr val="FFF0E8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583680" y="4114800"/>
            <a:ext cx="47640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Insight:  </a:t>
            </a:r>
            <a:r>
              <a:rPr lang="en-US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303 of 600 matches (50.5%) had the toss winner also win — split almost evenly between batting first (143) and fielding first (160).</a:t>
            </a:r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9331"/>
            <a:ext cx="12188952" cy="6858000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— FOUNDATIONAL QUERIES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5532120" cy="5532120"/>
          </a:xfrm>
          <a:prstGeom prst="roundRect">
            <a:avLst>
              <a:gd name="adj" fmla="val 1322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13232" y="1033272"/>
            <a:ext cx="457200" cy="45720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13232" y="10332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325880" y="996696"/>
            <a:ext cx="4434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2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Total Wins Per Team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1645920"/>
            <a:ext cx="4983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 GROUP BY + COUNT leaderboard across the whole matches table.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31520" y="2468880"/>
            <a:ext cx="4983480" cy="1417320"/>
          </a:xfrm>
          <a:prstGeom prst="roundRect">
            <a:avLst>
              <a:gd name="adj" fmla="val 3871"/>
            </a:avLst>
          </a:prstGeom>
          <a:solidFill>
            <a:srgbClr val="EDEFF3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41248" y="2542032"/>
            <a:ext cx="476402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2029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t.team_name, COUNT(*) AS total_wins</a:t>
            </a:r>
            <a:endParaRPr lang="en-US" sz="9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2029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matches m</a:t>
            </a:r>
            <a:endParaRPr lang="en-US" sz="9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2029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 teams t ON m.winner_team_id = t.team_id</a:t>
            </a:r>
            <a:endParaRPr lang="en-US" sz="9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2029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 t.team_name</a:t>
            </a:r>
            <a:endParaRPr lang="en-US" sz="9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2029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 total_wins DESC;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731520" y="4023360"/>
            <a:ext cx="4983480" cy="2011680"/>
          </a:xfrm>
          <a:prstGeom prst="roundRect">
            <a:avLst>
              <a:gd name="adj" fmla="val 2727"/>
            </a:avLst>
          </a:prstGeom>
          <a:solidFill>
            <a:srgbClr val="FFF0E8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41248" y="4114800"/>
            <a:ext cx="47640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Insight:  </a:t>
            </a:r>
            <a:r>
              <a:rPr lang="en-US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Delhi Capitals leads with 80 wins. The spread across all 8 teams (68–80) is tight, as expected in a randomized dataset.</a:t>
            </a: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6199632" y="777240"/>
            <a:ext cx="5532120" cy="5532120"/>
          </a:xfrm>
          <a:prstGeom prst="roundRect">
            <a:avLst>
              <a:gd name="adj" fmla="val 1322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55664" y="1033272"/>
            <a:ext cx="457200" cy="45720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455664" y="10332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7068312" y="996696"/>
            <a:ext cx="4434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2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Avg Runs Per Innings Per Team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6473952" y="1645920"/>
            <a:ext cx="4983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BY + AVG on the innings table, joined to teams via the batting side.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473952" y="2468880"/>
            <a:ext cx="4983480" cy="1417320"/>
          </a:xfrm>
          <a:prstGeom prst="roundRect">
            <a:avLst>
              <a:gd name="adj" fmla="val 3871"/>
            </a:avLst>
          </a:prstGeom>
          <a:solidFill>
            <a:srgbClr val="EDEFF3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583680" y="2542032"/>
            <a:ext cx="476402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2029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t.team_name, ROUND(AVG(i.total_runs),2)</a:t>
            </a:r>
            <a:endParaRPr lang="en-US" sz="9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2029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innings i</a:t>
            </a:r>
            <a:endParaRPr lang="en-US" sz="9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2029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 teams t ON i.batting_team_id = t.team_id</a:t>
            </a:r>
            <a:endParaRPr lang="en-US" sz="9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2029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 t.team_name</a:t>
            </a:r>
            <a:endParaRPr lang="en-US" sz="9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2029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 2 DESC;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473952" y="4023360"/>
            <a:ext cx="4983480" cy="2011680"/>
          </a:xfrm>
          <a:prstGeom prst="roundRect">
            <a:avLst>
              <a:gd name="adj" fmla="val 2727"/>
            </a:avLst>
          </a:prstGeom>
          <a:solidFill>
            <a:srgbClr val="FFF0E8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583680" y="4114800"/>
            <a:ext cx="47640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Insight:  </a:t>
            </a:r>
            <a:r>
              <a:rPr lang="en-US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Sunrisers Hyderabad average the highest (178.19 runs/innings); Chennai Super Kings the lowest (171.68) — under a 7-run spread.</a:t>
            </a:r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— FOUNDATIONAL QUERIES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5532120" cy="5532120"/>
          </a:xfrm>
          <a:prstGeom prst="roundRect">
            <a:avLst>
              <a:gd name="adj" fmla="val 1322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13232" y="1033272"/>
            <a:ext cx="457200" cy="45720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13232" y="10332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325880" y="996696"/>
            <a:ext cx="4434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2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Matches Per Venue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1645920"/>
            <a:ext cx="4983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GROUP BY + COUNT to find how evenly matches were distributed across grounds.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31520" y="2468880"/>
            <a:ext cx="4983480" cy="1417320"/>
          </a:xfrm>
          <a:prstGeom prst="roundRect">
            <a:avLst>
              <a:gd name="adj" fmla="val 3871"/>
            </a:avLst>
          </a:prstGeom>
          <a:solidFill>
            <a:srgbClr val="EDEFF3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41248" y="2542032"/>
            <a:ext cx="476402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2029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venue, COUNT(*) AS matches_played</a:t>
            </a:r>
            <a:endParaRPr lang="en-US" sz="9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2029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matches</a:t>
            </a:r>
            <a:endParaRPr lang="en-US" sz="9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2029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 venue</a:t>
            </a:r>
            <a:endParaRPr lang="en-US" sz="9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2029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 matches_played DESC;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731520" y="4023360"/>
            <a:ext cx="4983480" cy="2011680"/>
          </a:xfrm>
          <a:prstGeom prst="roundRect">
            <a:avLst>
              <a:gd name="adj" fmla="val 2727"/>
            </a:avLst>
          </a:prstGeom>
          <a:solidFill>
            <a:srgbClr val="FFF0E8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41248" y="4114800"/>
            <a:ext cx="47640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Insight:  </a:t>
            </a:r>
            <a:r>
              <a:rPr lang="en-US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Chennai's M.A. Chidambaram Stadium is busiest (70 matches); Dr. DY Patil, Navi Mumbai the quietest (47).</a:t>
            </a: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6199632" y="777240"/>
            <a:ext cx="5532120" cy="5532120"/>
          </a:xfrm>
          <a:prstGeom prst="roundRect">
            <a:avLst>
              <a:gd name="adj" fmla="val 1322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55664" y="1033272"/>
            <a:ext cx="457200" cy="45720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455664" y="10332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7068312" y="996696"/>
            <a:ext cx="4434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2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 10 All-Rounders by Value Score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6473952" y="1645920"/>
            <a:ext cx="4983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a composite metric (runs + wickets×20) to rank all-round contribution in a single number.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473952" y="2468880"/>
            <a:ext cx="4983480" cy="1417320"/>
          </a:xfrm>
          <a:prstGeom prst="roundRect">
            <a:avLst>
              <a:gd name="adj" fmla="val 3871"/>
            </a:avLst>
          </a:prstGeom>
          <a:solidFill>
            <a:srgbClr val="EDEFF3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583680" y="2542032"/>
            <a:ext cx="476402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2029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p.player_name,</a:t>
            </a:r>
            <a:endParaRPr lang="en-US" sz="9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2029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SUM(runs_scored) + SUM(wickets_taken)*20</a:t>
            </a:r>
            <a:endParaRPr lang="en-US" sz="9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2029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AS value_score</a:t>
            </a:r>
            <a:endParaRPr lang="en-US" sz="9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2029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player_match_stats pms JOIN players p ...</a:t>
            </a:r>
            <a:endParaRPr lang="en-US" sz="9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2029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 p.player_name ORDER BY value_score DESC;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473952" y="4023360"/>
            <a:ext cx="4983480" cy="2011680"/>
          </a:xfrm>
          <a:prstGeom prst="roundRect">
            <a:avLst>
              <a:gd name="adj" fmla="val 2727"/>
            </a:avLst>
          </a:prstGeom>
          <a:solidFill>
            <a:srgbClr val="FFF0E8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583680" y="4114800"/>
            <a:ext cx="47640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Insight:  </a:t>
            </a:r>
            <a:r>
              <a:rPr lang="en-US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Brian Deleon leads with a 5,292 value score (4,432 runs + 43 wickets) — mostly driven by batting volume, not bowling.</a:t>
            </a:r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— FOUNDATIONAL QUERIES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5532120" cy="5532120"/>
          </a:xfrm>
          <a:prstGeom prst="roundRect">
            <a:avLst>
              <a:gd name="adj" fmla="val 1322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13232" y="1033272"/>
            <a:ext cx="457200" cy="45720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13232" y="10332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325880" y="996696"/>
            <a:ext cx="4434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2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Toss-Decision Split by Venue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1645920"/>
            <a:ext cx="4983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 aggregation — a CASE expression nested inside SUM() pivots one column into two.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31520" y="2468880"/>
            <a:ext cx="4983480" cy="1417320"/>
          </a:xfrm>
          <a:prstGeom prst="roundRect">
            <a:avLst>
              <a:gd name="adj" fmla="val 3871"/>
            </a:avLst>
          </a:prstGeom>
          <a:solidFill>
            <a:srgbClr val="EDEFF3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41248" y="2542032"/>
            <a:ext cx="476402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2029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venue,</a:t>
            </a:r>
            <a:endParaRPr lang="en-US" sz="9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2029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SUM(CASE WHEN toss_decision='Bat' THEN 1</a:t>
            </a:r>
            <a:endParaRPr lang="en-US" sz="9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2029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ELSE 0 END) AS bat_first,</a:t>
            </a:r>
            <a:endParaRPr lang="en-US" sz="9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2029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SUM(CASE WHEN toss_decision='Field' THEN 1</a:t>
            </a:r>
            <a:endParaRPr lang="en-US" sz="9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2029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ELSE 0 END) AS field_first</a:t>
            </a:r>
            <a:endParaRPr lang="en-US" sz="9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2029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matches GROUP BY venue;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731520" y="4023360"/>
            <a:ext cx="4983480" cy="2011680"/>
          </a:xfrm>
          <a:prstGeom prst="roundRect">
            <a:avLst>
              <a:gd name="adj" fmla="val 2727"/>
            </a:avLst>
          </a:prstGeom>
          <a:solidFill>
            <a:srgbClr val="FFF0E8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41248" y="4114800"/>
            <a:ext cx="47640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Insight:  </a:t>
            </a:r>
            <a:r>
              <a:rPr lang="en-US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venue leans slightly toward fielding first; Eden Gardens is the most pronounced (25 bat vs 38 field).</a:t>
            </a: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6199632" y="777240"/>
            <a:ext cx="5532120" cy="5532120"/>
          </a:xfrm>
          <a:prstGeom prst="roundRect">
            <a:avLst>
              <a:gd name="adj" fmla="val 1322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55664" y="1033272"/>
            <a:ext cx="457200" cy="45720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455664" y="10332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7068312" y="996696"/>
            <a:ext cx="4434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2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Head-to-Head: MI vs CSK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6473952" y="1645920"/>
            <a:ext cx="4983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self-join on matches (aliased twice via teams) checks both team-order permutations for one specific rivalry.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473952" y="2468880"/>
            <a:ext cx="4983480" cy="1417320"/>
          </a:xfrm>
          <a:prstGeom prst="roundRect">
            <a:avLst>
              <a:gd name="adj" fmla="val 3871"/>
            </a:avLst>
          </a:prstGeom>
          <a:solidFill>
            <a:srgbClr val="EDEFF3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583680" y="2542032"/>
            <a:ext cx="476402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15000"/>
              </a:lnSpc>
            </a:pPr>
            <a:r>
              <a:rPr lang="en-US" sz="950" dirty="0">
                <a:solidFill>
                  <a:srgbClr val="2029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SUM(CASE WHEN </a:t>
            </a:r>
            <a:r>
              <a:rPr lang="en-US" sz="950" dirty="0" err="1">
                <a:solidFill>
                  <a:srgbClr val="2029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m.winner_team_id</a:t>
            </a:r>
            <a:r>
              <a:rPr lang="en-US" sz="950" dirty="0">
                <a:solidFill>
                  <a:srgbClr val="2029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t1.team_id THEN 1 ELSE 0 END) AS </a:t>
            </a:r>
            <a:r>
              <a:rPr lang="en-US" sz="950" dirty="0" err="1">
                <a:solidFill>
                  <a:srgbClr val="2029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mi_wins</a:t>
            </a:r>
            <a:r>
              <a:rPr lang="en-US" sz="950" dirty="0">
                <a:solidFill>
                  <a:srgbClr val="2029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   </a:t>
            </a:r>
          </a:p>
          <a:p>
            <a:pPr>
              <a:lnSpc>
                <a:spcPct val="115000"/>
              </a:lnSpc>
            </a:pPr>
            <a:r>
              <a:rPr lang="en-US" sz="950" dirty="0">
                <a:solidFill>
                  <a:srgbClr val="2029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SUM(CASE WHEN </a:t>
            </a:r>
            <a:r>
              <a:rPr lang="en-US" sz="950" dirty="0" err="1">
                <a:solidFill>
                  <a:srgbClr val="2029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m.winner_team_id</a:t>
            </a:r>
            <a:r>
              <a:rPr lang="en-US" sz="950" dirty="0">
                <a:solidFill>
                  <a:srgbClr val="2029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t2.team_id THEN 1 ELSE 0 END) AS </a:t>
            </a:r>
            <a:r>
              <a:rPr lang="en-US" sz="950" dirty="0" err="1">
                <a:solidFill>
                  <a:srgbClr val="2029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csk_wins</a:t>
            </a:r>
            <a:endParaRPr lang="en-US" sz="950" dirty="0">
              <a:solidFill>
                <a:srgbClr val="20293A"/>
              </a:solidFill>
              <a:latin typeface="Courier New" pitchFamily="34" charset="0"/>
              <a:ea typeface="Courier New" pitchFamily="34" charset="-122"/>
              <a:cs typeface="Courier New" pitchFamily="34" charset="-120"/>
            </a:endParaRPr>
          </a:p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2029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...</a:t>
            </a:r>
          </a:p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2029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(team1_id=t1.id AND team2_id=t2.id)</a:t>
            </a:r>
            <a:endParaRPr lang="en-US" sz="9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2029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OR (team1_id=t2.id AND team2_id=t1.id)</a:t>
            </a:r>
          </a:p>
          <a:p>
            <a:pPr marL="0" indent="0">
              <a:lnSpc>
                <a:spcPct val="115000"/>
              </a:lnSpc>
              <a:buNone/>
            </a:pPr>
            <a:endParaRPr lang="en-US" sz="950" dirty="0">
              <a:solidFill>
                <a:srgbClr val="20293A"/>
              </a:solidFill>
              <a:latin typeface="Courier New" pitchFamily="34" charset="0"/>
              <a:cs typeface="Courier New" pitchFamily="34" charset="-120"/>
            </a:endParaRPr>
          </a:p>
          <a:p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473952" y="4023360"/>
            <a:ext cx="4983480" cy="2011680"/>
          </a:xfrm>
          <a:prstGeom prst="roundRect">
            <a:avLst>
              <a:gd name="adj" fmla="val 2727"/>
            </a:avLst>
          </a:prstGeom>
          <a:solidFill>
            <a:srgbClr val="FFF0E8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583680" y="4114800"/>
            <a:ext cx="47640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Insight:  </a:t>
            </a:r>
            <a:r>
              <a:rPr lang="en-US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head-to-head matches on record — Chennai Super Kings narrowly ahead, 9 wins to 8.</a:t>
            </a:r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C36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-1645920"/>
            <a:ext cx="4754880" cy="4754880"/>
          </a:xfrm>
          <a:prstGeom prst="ellipse">
            <a:avLst/>
          </a:prstGeom>
          <a:solidFill>
            <a:srgbClr val="12294B"/>
          </a:solidFill>
          <a:ln/>
        </p:spPr>
      </p:sp>
      <p:sp>
        <p:nvSpPr>
          <p:cNvPr id="4" name="Shape 2"/>
          <p:cNvSpPr/>
          <p:nvPr/>
        </p:nvSpPr>
        <p:spPr>
          <a:xfrm>
            <a:off x="-1463040" y="5029200"/>
            <a:ext cx="3291840" cy="3291840"/>
          </a:xfrm>
          <a:prstGeom prst="ellipse">
            <a:avLst/>
          </a:prstGeom>
          <a:solidFill>
            <a:srgbClr val="12294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23317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788920"/>
            <a:ext cx="10058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Window Functions, Subqueries &amp; CTEs</a:t>
            </a:r>
            <a:endParaRPr lang="en-US" sz="34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97764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C7D0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Rankings, running totals, trend analysis, nested logic &amp; a bowling-economy deep dive — questions 11 through 20.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— WINDOW FUNCTIONS, SUBQUERIES &amp; CTES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5532120" cy="5532120"/>
          </a:xfrm>
          <a:prstGeom prst="roundRect">
            <a:avLst>
              <a:gd name="adj" fmla="val 1322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13232" y="1033272"/>
            <a:ext cx="457200" cy="45720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13232" y="10332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325880" y="996696"/>
            <a:ext cx="4434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2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Rank Teams Per Season by Wins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1645920"/>
            <a:ext cx="4983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CTE counts wins per team per season, then RANK() reorders within each year via PARTITION BY.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31520" y="2468880"/>
            <a:ext cx="4983480" cy="1417320"/>
          </a:xfrm>
          <a:prstGeom prst="roundRect">
            <a:avLst>
              <a:gd name="adj" fmla="val 3871"/>
            </a:avLst>
          </a:prstGeom>
          <a:solidFill>
            <a:srgbClr val="EDEFF3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41248" y="2542032"/>
            <a:ext cx="476402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2029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year, team_name, wins,</a:t>
            </a:r>
            <a:endParaRPr lang="en-US" sz="9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2029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RANK() OVER (PARTITION BY year</a:t>
            </a:r>
            <a:endParaRPr lang="en-US" sz="9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2029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ORDER BY wins DESC) AS season_rank</a:t>
            </a:r>
            <a:endParaRPr lang="en-US" sz="9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2029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team_wins;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731520" y="4023360"/>
            <a:ext cx="4983480" cy="2011680"/>
          </a:xfrm>
          <a:prstGeom prst="roundRect">
            <a:avLst>
              <a:gd name="adj" fmla="val 2727"/>
            </a:avLst>
          </a:prstGeom>
          <a:solidFill>
            <a:srgbClr val="FFF0E8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41248" y="4114800"/>
            <a:ext cx="47640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Insight:  </a:t>
            </a:r>
            <a:r>
              <a:rPr lang="en-US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2016 produced a 3-way tie at rank 1 (Delhi, Punjab, Rajasthan all on 10 wins) — RANK() correctly gives ties the same rank and skips ahead.</a:t>
            </a: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6199632" y="777240"/>
            <a:ext cx="5532120" cy="5532120"/>
          </a:xfrm>
          <a:prstGeom prst="roundRect">
            <a:avLst>
              <a:gd name="adj" fmla="val 1322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55664" y="1033272"/>
            <a:ext cx="457200" cy="45720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455664" y="10332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7068312" y="996696"/>
            <a:ext cx="4434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2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Running Total of Runs Per Batsman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6473952" y="1645920"/>
            <a:ext cx="4983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SUM() OVER with an ORDER BY builds a cumulative career tally, resetting per player via PARTITION BY.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473952" y="2468880"/>
            <a:ext cx="4983480" cy="1417320"/>
          </a:xfrm>
          <a:prstGeom prst="roundRect">
            <a:avLst>
              <a:gd name="adj" fmla="val 3871"/>
            </a:avLst>
          </a:prstGeom>
          <a:solidFill>
            <a:srgbClr val="EDEFF3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583680" y="2542032"/>
            <a:ext cx="476402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2029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player_id, match_date, runs_scored,</a:t>
            </a:r>
            <a:endParaRPr lang="en-US" sz="9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2029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SUM(runs_scored) OVER (</a:t>
            </a:r>
            <a:endParaRPr lang="en-US" sz="9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2029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PARTITION BY player_id ORDER BY match_date</a:t>
            </a:r>
            <a:endParaRPr lang="en-US" sz="9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2029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 AS running_total</a:t>
            </a:r>
            <a:endParaRPr lang="en-US" sz="9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2029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batting;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473952" y="4023360"/>
            <a:ext cx="4983480" cy="2011680"/>
          </a:xfrm>
          <a:prstGeom prst="roundRect">
            <a:avLst>
              <a:gd name="adj" fmla="val 2727"/>
            </a:avLst>
          </a:prstGeom>
          <a:solidFill>
            <a:srgbClr val="FFF0E8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583680" y="4114800"/>
            <a:ext cx="47640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Insight:  </a:t>
            </a:r>
            <a:r>
              <a:rPr lang="en-US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Totals carry seamlessly across season boundaries since the partition is by player only — a reminder that PARTITION BY scope matters.</a:t>
            </a:r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— WINDOW FUNCTIONS, SUBQUERIES &amp; CTES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5532120" cy="5532120"/>
          </a:xfrm>
          <a:prstGeom prst="roundRect">
            <a:avLst>
              <a:gd name="adj" fmla="val 1322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13232" y="1033272"/>
            <a:ext cx="457200" cy="45720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13232" y="10332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325880" y="996696"/>
            <a:ext cx="4434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2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 3 Run-Scorers Per Season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1645920"/>
            <a:ext cx="4983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Two-step CTE: sum runs per player per season, then DENSE_RANK() within each year — filtering on a window result needs the CTE wrapper.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31520" y="2468880"/>
            <a:ext cx="4983480" cy="1417320"/>
          </a:xfrm>
          <a:prstGeom prst="roundRect">
            <a:avLst>
              <a:gd name="adj" fmla="val 3871"/>
            </a:avLst>
          </a:prstGeom>
          <a:solidFill>
            <a:srgbClr val="EDEFF3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41248" y="2542032"/>
            <a:ext cx="476402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2029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 ranked AS (</a:t>
            </a:r>
            <a:endParaRPr lang="en-US" sz="9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2029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SELECT *, DENSE_RANK() OVER (</a:t>
            </a:r>
            <a:endParaRPr lang="en-US" sz="9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2029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PARTITION BY year ORDER BY total_runs DESC</a:t>
            </a:r>
            <a:endParaRPr lang="en-US" sz="9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2029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 AS rnk FROM season_runs</a:t>
            </a:r>
            <a:endParaRPr lang="en-US" sz="9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2029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9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2029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* FROM ranked WHERE rnk &lt;= 3;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731520" y="4023360"/>
            <a:ext cx="4983480" cy="2011680"/>
          </a:xfrm>
          <a:prstGeom prst="roundRect">
            <a:avLst>
              <a:gd name="adj" fmla="val 2727"/>
            </a:avLst>
          </a:prstGeom>
          <a:solidFill>
            <a:srgbClr val="FFF0E8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41248" y="4114800"/>
            <a:ext cx="47640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Insight:  </a:t>
            </a:r>
            <a:r>
              <a:rPr lang="en-US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Nicholas Martin's 886 runs in 2015 is the single highest season total appearing in any year's top 3.</a:t>
            </a: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6199632" y="777240"/>
            <a:ext cx="5532120" cy="5532120"/>
          </a:xfrm>
          <a:prstGeom prst="roundRect">
            <a:avLst>
              <a:gd name="adj" fmla="val 1322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55664" y="1033272"/>
            <a:ext cx="457200" cy="45720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455664" y="10332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7068312" y="996696"/>
            <a:ext cx="4434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2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Season-Over-Season Win Trend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6473952" y="1645920"/>
            <a:ext cx="4983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LAG() looks one row back within each team's own year-ordered timeline to compare current vs previous season.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473952" y="2468880"/>
            <a:ext cx="4983480" cy="1417320"/>
          </a:xfrm>
          <a:prstGeom prst="roundRect">
            <a:avLst>
              <a:gd name="adj" fmla="val 3871"/>
            </a:avLst>
          </a:prstGeom>
          <a:solidFill>
            <a:srgbClr val="EDEFF3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583680" y="2542032"/>
            <a:ext cx="476402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2029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year, team_name, wins,</a:t>
            </a:r>
            <a:endParaRPr lang="en-US" sz="9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2029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LAG(wins) OVER (PARTITION BY team_id</a:t>
            </a:r>
            <a:endParaRPr lang="en-US" sz="9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2029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ORDER BY year) AS prev_wins,</a:t>
            </a:r>
            <a:endParaRPr lang="en-US" sz="9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2029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CASE WHEN wins &gt; prev_wins THEN 'Improved'</a:t>
            </a:r>
            <a:endParaRPr lang="en-US" sz="9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2029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... END AS trend</a:t>
            </a:r>
            <a:endParaRPr lang="en-US" sz="9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2029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team_wins;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473952" y="4023360"/>
            <a:ext cx="4983480" cy="2011680"/>
          </a:xfrm>
          <a:prstGeom prst="roundRect">
            <a:avLst>
              <a:gd name="adj" fmla="val 2727"/>
            </a:avLst>
          </a:prstGeom>
          <a:solidFill>
            <a:srgbClr val="FFF0E8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583680" y="4114800"/>
            <a:ext cx="47640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Insight:  </a:t>
            </a:r>
            <a:r>
              <a:rPr lang="en-US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Mumbai Indians dipped from 11 wins (2015) to 8 (2016), plateaued, then 'Improved' again in 2019 and 2024 — form visible at a glance.</a:t>
            </a:r>
            <a:endParaRPr 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9331"/>
            <a:ext cx="12188952" cy="6858000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— WINDOW FUNCTIONS, SUBQUERIES &amp; CTES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5532120" cy="5532120"/>
          </a:xfrm>
          <a:prstGeom prst="roundRect">
            <a:avLst>
              <a:gd name="adj" fmla="val 1322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13232" y="1033272"/>
            <a:ext cx="457200" cy="45720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13232" y="10332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325880" y="996696"/>
            <a:ext cx="4434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2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Players Above Average Career Runs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1645920"/>
            <a:ext cx="4983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CTE totals career runs per player; the outer query compares each total to the league-wide AVG via a scalar subquery.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31520" y="2212848"/>
            <a:ext cx="4983480" cy="1673352"/>
          </a:xfrm>
          <a:prstGeom prst="roundRect">
            <a:avLst>
              <a:gd name="adj" fmla="val 3871"/>
            </a:avLst>
          </a:prstGeom>
          <a:solidFill>
            <a:srgbClr val="EDEFF3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41248" y="2212848"/>
            <a:ext cx="4764024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15000"/>
              </a:lnSpc>
            </a:pPr>
            <a:r>
              <a:rPr lang="en-US" sz="950" dirty="0">
                <a:solidFill>
                  <a:srgbClr val="2029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 </a:t>
            </a:r>
            <a:r>
              <a:rPr lang="en-US" sz="950" dirty="0" err="1">
                <a:solidFill>
                  <a:srgbClr val="2029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player_totals</a:t>
            </a:r>
            <a:r>
              <a:rPr lang="en-US" sz="950" dirty="0">
                <a:solidFill>
                  <a:srgbClr val="2029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AS (</a:t>
            </a:r>
          </a:p>
          <a:p>
            <a:pPr>
              <a:lnSpc>
                <a:spcPct val="115000"/>
              </a:lnSpc>
            </a:pPr>
            <a:r>
              <a:rPr lang="en-US" sz="950" dirty="0">
                <a:solidFill>
                  <a:srgbClr val="2029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SELECT </a:t>
            </a:r>
            <a:r>
              <a:rPr lang="en-US" sz="950" dirty="0" err="1">
                <a:solidFill>
                  <a:srgbClr val="2029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player_id</a:t>
            </a:r>
            <a:r>
              <a:rPr lang="en-US" sz="950" dirty="0">
                <a:solidFill>
                  <a:srgbClr val="2029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SUM(</a:t>
            </a:r>
            <a:r>
              <a:rPr lang="en-US" sz="950" dirty="0" err="1">
                <a:solidFill>
                  <a:srgbClr val="2029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runs_scored</a:t>
            </a:r>
            <a:r>
              <a:rPr lang="en-US" sz="950" dirty="0">
                <a:solidFill>
                  <a:srgbClr val="2029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AS </a:t>
            </a:r>
            <a:r>
              <a:rPr lang="en-US" sz="950" dirty="0" err="1">
                <a:solidFill>
                  <a:srgbClr val="2029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total_runs</a:t>
            </a:r>
            <a:endParaRPr lang="en-US" sz="950" dirty="0">
              <a:solidFill>
                <a:srgbClr val="20293A"/>
              </a:solidFill>
              <a:latin typeface="Courier New" pitchFamily="34" charset="0"/>
              <a:ea typeface="Courier New" pitchFamily="34" charset="-122"/>
              <a:cs typeface="Courier New" pitchFamily="34" charset="-120"/>
            </a:endParaRPr>
          </a:p>
          <a:p>
            <a:pPr>
              <a:lnSpc>
                <a:spcPct val="115000"/>
              </a:lnSpc>
            </a:pPr>
            <a:r>
              <a:rPr lang="en-US" sz="950" dirty="0">
                <a:solidFill>
                  <a:srgbClr val="2029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FROM </a:t>
            </a:r>
            <a:r>
              <a:rPr lang="en-US" sz="950" dirty="0" err="1">
                <a:solidFill>
                  <a:srgbClr val="2029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player_match_stats</a:t>
            </a:r>
            <a:r>
              <a:rPr lang="en-US" sz="950" dirty="0">
                <a:solidFill>
                  <a:srgbClr val="2029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</a:p>
          <a:p>
            <a:pPr>
              <a:lnSpc>
                <a:spcPct val="115000"/>
              </a:lnSpc>
            </a:pPr>
            <a:r>
              <a:rPr lang="en-US" sz="950" dirty="0">
                <a:solidFill>
                  <a:srgbClr val="2029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GROUP BY </a:t>
            </a:r>
            <a:r>
              <a:rPr lang="en-US" sz="950" dirty="0" err="1">
                <a:solidFill>
                  <a:srgbClr val="2029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player_id</a:t>
            </a:r>
            <a:r>
              <a:rPr lang="en-US" sz="950" dirty="0">
                <a:solidFill>
                  <a:srgbClr val="2029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</a:p>
          <a:p>
            <a:pPr>
              <a:lnSpc>
                <a:spcPct val="115000"/>
              </a:lnSpc>
            </a:pPr>
            <a:r>
              <a:rPr lang="en-US" sz="950" dirty="0">
                <a:solidFill>
                  <a:srgbClr val="2029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</a:t>
            </a:r>
            <a:r>
              <a:rPr lang="en-US" sz="950" dirty="0" err="1">
                <a:solidFill>
                  <a:srgbClr val="2029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p.player_name</a:t>
            </a:r>
            <a:r>
              <a:rPr lang="en-US" sz="950" dirty="0">
                <a:solidFill>
                  <a:srgbClr val="2029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950" dirty="0" err="1">
                <a:solidFill>
                  <a:srgbClr val="2029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pt.total_runs</a:t>
            </a:r>
            <a:endParaRPr lang="en-US" sz="950" dirty="0">
              <a:solidFill>
                <a:srgbClr val="20293A"/>
              </a:solidFill>
              <a:latin typeface="Courier New" pitchFamily="34" charset="0"/>
              <a:ea typeface="Courier New" pitchFamily="34" charset="-122"/>
              <a:cs typeface="Courier New" pitchFamily="34" charset="-120"/>
            </a:endParaRPr>
          </a:p>
          <a:p>
            <a:pPr>
              <a:lnSpc>
                <a:spcPct val="115000"/>
              </a:lnSpc>
            </a:pPr>
            <a:r>
              <a:rPr lang="en-US" sz="950" dirty="0">
                <a:solidFill>
                  <a:srgbClr val="2029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</a:t>
            </a:r>
            <a:r>
              <a:rPr lang="en-US" sz="950" dirty="0" err="1">
                <a:solidFill>
                  <a:srgbClr val="2029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player_totals</a:t>
            </a:r>
            <a:r>
              <a:rPr lang="en-US" sz="950" dirty="0">
                <a:solidFill>
                  <a:srgbClr val="2029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pt</a:t>
            </a:r>
          </a:p>
          <a:p>
            <a:pPr>
              <a:lnSpc>
                <a:spcPct val="115000"/>
              </a:lnSpc>
            </a:pPr>
            <a:r>
              <a:rPr lang="en-US" sz="950" dirty="0">
                <a:solidFill>
                  <a:srgbClr val="2029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 players p ON </a:t>
            </a:r>
            <a:r>
              <a:rPr lang="en-US" sz="950" dirty="0" err="1">
                <a:solidFill>
                  <a:srgbClr val="2029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pt.player_id</a:t>
            </a:r>
            <a:r>
              <a:rPr lang="en-US" sz="950" dirty="0">
                <a:solidFill>
                  <a:srgbClr val="2029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r>
              <a:rPr lang="en-US" sz="950" dirty="0" err="1">
                <a:solidFill>
                  <a:srgbClr val="2029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p.player_id</a:t>
            </a:r>
            <a:endParaRPr lang="en-US" sz="950" dirty="0">
              <a:solidFill>
                <a:srgbClr val="20293A"/>
              </a:solidFill>
              <a:latin typeface="Courier New" pitchFamily="34" charset="0"/>
              <a:ea typeface="Courier New" pitchFamily="34" charset="-122"/>
              <a:cs typeface="Courier New" pitchFamily="34" charset="-120"/>
            </a:endParaRPr>
          </a:p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2029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pt.total_runs &gt; (</a:t>
            </a:r>
            <a:endParaRPr lang="en-US" sz="9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2029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SELECT AVG(total_runs) FROM </a:t>
            </a:r>
            <a:r>
              <a:rPr lang="en-US" sz="950" dirty="0" err="1">
                <a:solidFill>
                  <a:srgbClr val="2029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player_totals</a:t>
            </a:r>
            <a:r>
              <a:rPr lang="en-US" sz="950" dirty="0">
                <a:solidFill>
                  <a:srgbClr val="2029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</a:p>
          <a:p>
            <a:pPr>
              <a:lnSpc>
                <a:spcPct val="115000"/>
              </a:lnSpc>
            </a:pPr>
            <a:r>
              <a:rPr lang="en-US" sz="950" dirty="0">
                <a:solidFill>
                  <a:srgbClr val="20293A"/>
                </a:solidFill>
                <a:latin typeface="Courier New" pitchFamily="34" charset="0"/>
                <a:cs typeface="Courier New" pitchFamily="34" charset="-120"/>
              </a:rPr>
              <a:t>  ORDER BY </a:t>
            </a:r>
            <a:r>
              <a:rPr lang="en-US" sz="950" dirty="0" err="1">
                <a:solidFill>
                  <a:srgbClr val="20293A"/>
                </a:solidFill>
                <a:latin typeface="Courier New" pitchFamily="34" charset="0"/>
                <a:cs typeface="Courier New" pitchFamily="34" charset="-120"/>
              </a:rPr>
              <a:t>pt.total_runs</a:t>
            </a:r>
            <a:r>
              <a:rPr lang="en-US" sz="950" dirty="0">
                <a:solidFill>
                  <a:srgbClr val="20293A"/>
                </a:solidFill>
                <a:latin typeface="Courier New" pitchFamily="34" charset="0"/>
                <a:cs typeface="Courier New" pitchFamily="34" charset="-120"/>
              </a:rPr>
              <a:t> DESC;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731520" y="4023360"/>
            <a:ext cx="4983480" cy="2011680"/>
          </a:xfrm>
          <a:prstGeom prst="roundRect">
            <a:avLst>
              <a:gd name="adj" fmla="val 2727"/>
            </a:avLst>
          </a:prstGeom>
          <a:solidFill>
            <a:srgbClr val="FFF0E8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41248" y="4114800"/>
            <a:ext cx="47640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Insight:  </a:t>
            </a:r>
            <a:r>
              <a:rPr lang="en-US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 of 176 players (48%) beat the league average of 3,550.8 runs — topped by Travis Miller at 4,478.</a:t>
            </a: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6199632" y="777240"/>
            <a:ext cx="5532120" cy="5532120"/>
          </a:xfrm>
          <a:prstGeom prst="roundRect">
            <a:avLst>
              <a:gd name="adj" fmla="val 1322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55664" y="1033272"/>
            <a:ext cx="457200" cy="45720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455664" y="10332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7068312" y="996696"/>
            <a:ext cx="4434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2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Net Run Rate Proxy Per Team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6473952" y="1645920"/>
            <a:ext cx="4983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CTEs (runs scored, runs conceded, matches played via UNION ALL) combine into one differential-per-match metric.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473952" y="2212848"/>
            <a:ext cx="4983480" cy="1673352"/>
          </a:xfrm>
          <a:prstGeom prst="roundRect">
            <a:avLst>
              <a:gd name="adj" fmla="val 3871"/>
            </a:avLst>
          </a:prstGeom>
          <a:solidFill>
            <a:srgbClr val="EDEFF3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583680" y="2326681"/>
            <a:ext cx="476402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15000"/>
              </a:lnSpc>
            </a:pPr>
            <a:r>
              <a:rPr lang="en-US" sz="950" dirty="0">
                <a:solidFill>
                  <a:srgbClr val="2029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 </a:t>
            </a:r>
            <a:r>
              <a:rPr lang="en-US" sz="950" dirty="0" err="1">
                <a:solidFill>
                  <a:srgbClr val="2029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batting_runs</a:t>
            </a:r>
            <a:r>
              <a:rPr lang="en-US" sz="950" dirty="0">
                <a:solidFill>
                  <a:srgbClr val="2029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AS ( ...</a:t>
            </a:r>
          </a:p>
          <a:p>
            <a:pPr>
              <a:lnSpc>
                <a:spcPct val="115000"/>
              </a:lnSpc>
            </a:pPr>
            <a:r>
              <a:rPr lang="en-US" sz="950" dirty="0">
                <a:solidFill>
                  <a:srgbClr val="2029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...  ),</a:t>
            </a:r>
          </a:p>
          <a:p>
            <a:pPr>
              <a:lnSpc>
                <a:spcPct val="115000"/>
              </a:lnSpc>
            </a:pPr>
            <a:r>
              <a:rPr lang="en-US" sz="950" dirty="0" err="1">
                <a:solidFill>
                  <a:srgbClr val="2029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bowling_runs</a:t>
            </a:r>
            <a:r>
              <a:rPr lang="en-US" sz="950" dirty="0">
                <a:solidFill>
                  <a:srgbClr val="2029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AS( ...</a:t>
            </a:r>
          </a:p>
          <a:p>
            <a:pPr>
              <a:lnSpc>
                <a:spcPct val="115000"/>
              </a:lnSpc>
            </a:pPr>
            <a:r>
              <a:rPr lang="en-US" sz="950" dirty="0">
                <a:solidFill>
                  <a:srgbClr val="2029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....   ),</a:t>
            </a:r>
          </a:p>
          <a:p>
            <a:pPr>
              <a:lnSpc>
                <a:spcPct val="115000"/>
              </a:lnSpc>
            </a:pPr>
            <a:r>
              <a:rPr lang="en-US" sz="950" dirty="0" err="1">
                <a:solidFill>
                  <a:srgbClr val="2029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matches_played</a:t>
            </a:r>
            <a:r>
              <a:rPr lang="en-US" sz="950" dirty="0">
                <a:solidFill>
                  <a:srgbClr val="2029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AS ( ...</a:t>
            </a:r>
          </a:p>
          <a:p>
            <a:pPr>
              <a:lnSpc>
                <a:spcPct val="115000"/>
              </a:lnSpc>
            </a:pPr>
            <a:r>
              <a:rPr lang="en-US" sz="950" dirty="0">
                <a:solidFill>
                  <a:srgbClr val="2029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...),</a:t>
            </a:r>
          </a:p>
          <a:p>
            <a:pPr>
              <a:lnSpc>
                <a:spcPct val="115000"/>
              </a:lnSpc>
            </a:pPr>
            <a:r>
              <a:rPr lang="en-US" sz="950" dirty="0">
                <a:solidFill>
                  <a:srgbClr val="2029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</a:t>
            </a:r>
            <a:r>
              <a:rPr lang="en-US" sz="950" dirty="0" err="1">
                <a:solidFill>
                  <a:srgbClr val="2029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team_name</a:t>
            </a:r>
            <a:r>
              <a:rPr lang="en-US" sz="950" dirty="0">
                <a:solidFill>
                  <a:srgbClr val="2029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9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2029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(runs_scored - runs_conceded)*1.0 / matches AS nrr_proxy</a:t>
            </a:r>
            <a:endParaRPr lang="en-US" sz="9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2029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... ORDER BY nrr_proxy DESC;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473952" y="4023360"/>
            <a:ext cx="4983480" cy="2011680"/>
          </a:xfrm>
          <a:prstGeom prst="roundRect">
            <a:avLst>
              <a:gd name="adj" fmla="val 2727"/>
            </a:avLst>
          </a:prstGeom>
          <a:solidFill>
            <a:srgbClr val="FFF0E8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583680" y="4114800"/>
            <a:ext cx="47640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Insight:  </a:t>
            </a:r>
            <a:r>
              <a:rPr lang="en-US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Sunrisers Hyderabad has the best differential (+7.58/match); Punjab Kings the worst (−8.52) — a simplified stand-in for real NRR.</a:t>
            </a:r>
            <a:endParaRPr 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— WINDOW FUNCTIONS, SUBQUERIES &amp; CTES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5532120" cy="5532120"/>
          </a:xfrm>
          <a:prstGeom prst="roundRect">
            <a:avLst>
              <a:gd name="adj" fmla="val 1322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13232" y="1033272"/>
            <a:ext cx="457200" cy="45720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13232" y="10332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325880" y="996696"/>
            <a:ext cx="4434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2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Most Player-of-the-Match Awards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1645920"/>
            <a:ext cx="4983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subquery counts POM awards per player; the outer query matches back to whichever count equals the overall MAX.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31520" y="2166848"/>
            <a:ext cx="4983480" cy="1856512"/>
          </a:xfrm>
          <a:prstGeom prst="roundRect">
            <a:avLst>
              <a:gd name="adj" fmla="val 3871"/>
            </a:avLst>
          </a:prstGeom>
          <a:solidFill>
            <a:srgbClr val="EDEFF3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10" name="Text 8"/>
          <p:cNvSpPr txBox="1"/>
          <p:nvPr/>
        </p:nvSpPr>
        <p:spPr>
          <a:xfrm>
            <a:off x="841248" y="2166848"/>
            <a:ext cx="476402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15000"/>
              </a:lnSpc>
            </a:pPr>
            <a:r>
              <a:rPr lang="en-US" sz="950" dirty="0">
                <a:solidFill>
                  <a:srgbClr val="2029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</a:t>
            </a:r>
            <a:r>
              <a:rPr lang="en-US" sz="950" dirty="0" err="1">
                <a:solidFill>
                  <a:srgbClr val="2029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p.player_name</a:t>
            </a:r>
            <a:r>
              <a:rPr lang="en-US" sz="950" dirty="0">
                <a:solidFill>
                  <a:srgbClr val="2029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950" dirty="0" err="1">
                <a:solidFill>
                  <a:srgbClr val="2029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t.cnt</a:t>
            </a:r>
            <a:r>
              <a:rPr lang="en-US" sz="950" dirty="0">
                <a:solidFill>
                  <a:srgbClr val="2029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AS </a:t>
            </a:r>
            <a:r>
              <a:rPr lang="en-US" sz="950" dirty="0" err="1">
                <a:solidFill>
                  <a:srgbClr val="2029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pom_awards</a:t>
            </a:r>
            <a:endParaRPr lang="en-US" sz="950" dirty="0">
              <a:solidFill>
                <a:srgbClr val="20293A"/>
              </a:solidFill>
              <a:latin typeface="Courier New" pitchFamily="34" charset="0"/>
              <a:ea typeface="Courier New" pitchFamily="34" charset="-122"/>
              <a:cs typeface="Courier New" pitchFamily="34" charset="-120"/>
            </a:endParaRPr>
          </a:p>
          <a:p>
            <a:pPr>
              <a:lnSpc>
                <a:spcPct val="115000"/>
              </a:lnSpc>
            </a:pPr>
            <a:r>
              <a:rPr lang="en-US" sz="950" dirty="0">
                <a:solidFill>
                  <a:srgbClr val="2029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(</a:t>
            </a:r>
          </a:p>
          <a:p>
            <a:pPr>
              <a:lnSpc>
                <a:spcPct val="115000"/>
              </a:lnSpc>
            </a:pPr>
            <a:r>
              <a:rPr lang="en-US" sz="950" dirty="0">
                <a:solidFill>
                  <a:srgbClr val="2029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SELECT </a:t>
            </a:r>
            <a:r>
              <a:rPr lang="en-US" sz="950" dirty="0" err="1">
                <a:solidFill>
                  <a:srgbClr val="2029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player_of_match_id</a:t>
            </a:r>
            <a:r>
              <a:rPr lang="en-US" sz="950" dirty="0">
                <a:solidFill>
                  <a:srgbClr val="2029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COUNT(*) AS </a:t>
            </a:r>
            <a:r>
              <a:rPr lang="en-US" sz="950" dirty="0" err="1">
                <a:solidFill>
                  <a:srgbClr val="2029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cnt</a:t>
            </a:r>
            <a:r>
              <a:rPr lang="en-US" sz="950" dirty="0">
                <a:solidFill>
                  <a:srgbClr val="2029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</a:p>
          <a:p>
            <a:pPr>
              <a:lnSpc>
                <a:spcPct val="115000"/>
              </a:lnSpc>
            </a:pPr>
            <a:r>
              <a:rPr lang="en-US" sz="950" dirty="0">
                <a:solidFill>
                  <a:srgbClr val="2029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FROM matches </a:t>
            </a:r>
          </a:p>
          <a:p>
            <a:pPr>
              <a:lnSpc>
                <a:spcPct val="115000"/>
              </a:lnSpc>
            </a:pPr>
            <a:r>
              <a:rPr lang="en-US" sz="950" dirty="0">
                <a:solidFill>
                  <a:srgbClr val="2029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GROUP BY </a:t>
            </a:r>
            <a:r>
              <a:rPr lang="en-US" sz="950" dirty="0" err="1">
                <a:solidFill>
                  <a:srgbClr val="2029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player_of_match_id</a:t>
            </a:r>
            <a:endParaRPr lang="en-US" sz="950" dirty="0">
              <a:solidFill>
                <a:srgbClr val="20293A"/>
              </a:solidFill>
              <a:latin typeface="Courier New" pitchFamily="34" charset="0"/>
              <a:ea typeface="Courier New" pitchFamily="34" charset="-122"/>
              <a:cs typeface="Courier New" pitchFamily="34" charset="-120"/>
            </a:endParaRPr>
          </a:p>
          <a:p>
            <a:pPr>
              <a:lnSpc>
                <a:spcPct val="115000"/>
              </a:lnSpc>
            </a:pPr>
            <a:r>
              <a:rPr lang="en-US" sz="950" dirty="0">
                <a:solidFill>
                  <a:srgbClr val="2029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)t</a:t>
            </a:r>
          </a:p>
          <a:p>
            <a:pPr>
              <a:lnSpc>
                <a:spcPct val="115000"/>
              </a:lnSpc>
            </a:pPr>
            <a:r>
              <a:rPr lang="en-US" sz="950" dirty="0">
                <a:solidFill>
                  <a:srgbClr val="2029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 players p ON </a:t>
            </a:r>
            <a:r>
              <a:rPr lang="en-US" sz="950" dirty="0" err="1">
                <a:solidFill>
                  <a:srgbClr val="2029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t.player_of_match_id</a:t>
            </a:r>
            <a:r>
              <a:rPr lang="en-US" sz="950" dirty="0">
                <a:solidFill>
                  <a:srgbClr val="2029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r>
              <a:rPr lang="en-US" sz="950" dirty="0" err="1">
                <a:solidFill>
                  <a:srgbClr val="2029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p.player_id</a:t>
            </a:r>
            <a:endParaRPr lang="en-US" sz="950" dirty="0">
              <a:solidFill>
                <a:srgbClr val="20293A"/>
              </a:solidFill>
              <a:latin typeface="Courier New" pitchFamily="34" charset="0"/>
              <a:ea typeface="Courier New" pitchFamily="34" charset="-122"/>
              <a:cs typeface="Courier New" pitchFamily="34" charset="-120"/>
            </a:endParaRPr>
          </a:p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2029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t.cnt = (</a:t>
            </a:r>
            <a:endParaRPr lang="en-US" sz="9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2029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SELECT MAX(cnt) FROM (</a:t>
            </a:r>
            <a:endParaRPr lang="en-US" sz="9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2029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SELECT COUNT(*) AS cnt FROM matches</a:t>
            </a:r>
            <a:endParaRPr lang="en-US" sz="9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2029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GROUP BY player_of_match_id) x);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731520" y="4114800"/>
            <a:ext cx="4983480" cy="2011680"/>
          </a:xfrm>
          <a:prstGeom prst="roundRect">
            <a:avLst>
              <a:gd name="adj" fmla="val 2727"/>
            </a:avLst>
          </a:prstGeom>
          <a:solidFill>
            <a:srgbClr val="FFF0E8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41248" y="4114800"/>
            <a:ext cx="47640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Insight:  </a:t>
            </a:r>
            <a:r>
              <a:rPr lang="en-US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Brian Coleman leads with 11 Player-of-the-Match awards — the single most decorated player in the dataset.</a:t>
            </a: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6199632" y="777240"/>
            <a:ext cx="5532120" cy="5532120"/>
          </a:xfrm>
          <a:prstGeom prst="roundRect">
            <a:avLst>
              <a:gd name="adj" fmla="val 1322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55664" y="1033272"/>
            <a:ext cx="457200" cy="45720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455664" y="10332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7068312" y="996696"/>
            <a:ext cx="4434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2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“Overpriced Signing” Detector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6473952" y="1645920"/>
            <a:ext cx="4983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CTE computes each team's average sold price per season; the outer query flags players bought above that average.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473952" y="2166848"/>
            <a:ext cx="4983480" cy="1828800"/>
          </a:xfrm>
          <a:prstGeom prst="roundRect">
            <a:avLst>
              <a:gd name="adj" fmla="val 3871"/>
            </a:avLst>
          </a:prstGeom>
          <a:solidFill>
            <a:srgbClr val="EDEFF3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583680" y="2542032"/>
            <a:ext cx="476402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15000"/>
              </a:lnSpc>
            </a:pPr>
            <a:r>
              <a:rPr lang="en-US" sz="950" dirty="0">
                <a:solidFill>
                  <a:srgbClr val="2029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 </a:t>
            </a:r>
            <a:r>
              <a:rPr lang="en-US" sz="950" dirty="0" err="1">
                <a:solidFill>
                  <a:srgbClr val="2029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team_season_avg</a:t>
            </a:r>
            <a:r>
              <a:rPr lang="en-US" sz="950" dirty="0">
                <a:solidFill>
                  <a:srgbClr val="2029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AS ( ...</a:t>
            </a:r>
          </a:p>
          <a:p>
            <a:pPr>
              <a:lnSpc>
                <a:spcPct val="115000"/>
              </a:lnSpc>
            </a:pPr>
            <a:r>
              <a:rPr lang="en-US" sz="950" dirty="0">
                <a:solidFill>
                  <a:srgbClr val="2029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</a:p>
          <a:p>
            <a:pPr>
              <a:lnSpc>
                <a:spcPct val="115000"/>
              </a:lnSpc>
            </a:pPr>
            <a:r>
              <a:rPr lang="en-US" sz="950" dirty="0">
                <a:solidFill>
                  <a:srgbClr val="2029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..., ROUND(tsa.avg_price,0) AS </a:t>
            </a:r>
            <a:r>
              <a:rPr lang="en-US" sz="950" dirty="0" err="1">
                <a:solidFill>
                  <a:srgbClr val="2029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team_avg_price</a:t>
            </a:r>
            <a:endParaRPr lang="en-US" sz="950" dirty="0">
              <a:solidFill>
                <a:srgbClr val="20293A"/>
              </a:solidFill>
              <a:latin typeface="Courier New" pitchFamily="34" charset="0"/>
              <a:ea typeface="Courier New" pitchFamily="34" charset="-122"/>
              <a:cs typeface="Courier New" pitchFamily="34" charset="-120"/>
            </a:endParaRPr>
          </a:p>
          <a:p>
            <a:pPr>
              <a:lnSpc>
                <a:spcPct val="115000"/>
              </a:lnSpc>
            </a:pPr>
            <a:r>
              <a:rPr lang="en-US" sz="950" dirty="0">
                <a:solidFill>
                  <a:srgbClr val="2029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...</a:t>
            </a:r>
          </a:p>
          <a:p>
            <a:pPr>
              <a:lnSpc>
                <a:spcPct val="115000"/>
              </a:lnSpc>
            </a:pPr>
            <a:r>
              <a:rPr lang="en-US" sz="950" dirty="0">
                <a:solidFill>
                  <a:srgbClr val="2029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 ...</a:t>
            </a:r>
          </a:p>
          <a:p>
            <a:pPr>
              <a:lnSpc>
                <a:spcPct val="115000"/>
              </a:lnSpc>
            </a:pPr>
            <a:r>
              <a:rPr lang="en-US" sz="950" dirty="0">
                <a:solidFill>
                  <a:srgbClr val="2029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a.sold_price &gt; </a:t>
            </a:r>
            <a:r>
              <a:rPr lang="en-US" sz="950" dirty="0" err="1">
                <a:solidFill>
                  <a:srgbClr val="2029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tsa.avg_price</a:t>
            </a:r>
            <a:endParaRPr lang="en-US" sz="950" dirty="0">
              <a:solidFill>
                <a:srgbClr val="20293A"/>
              </a:solidFill>
              <a:latin typeface="Courier New" pitchFamily="34" charset="0"/>
              <a:ea typeface="Courier New" pitchFamily="34" charset="-122"/>
              <a:cs typeface="Courier New" pitchFamily="34" charset="-120"/>
            </a:endParaRPr>
          </a:p>
          <a:p>
            <a:pPr>
              <a:lnSpc>
                <a:spcPct val="115000"/>
              </a:lnSpc>
            </a:pPr>
            <a:r>
              <a:rPr lang="en-US" sz="950" dirty="0"/>
              <a:t>ORDER BY </a:t>
            </a:r>
            <a:r>
              <a:rPr lang="en-US" sz="950" dirty="0" err="1"/>
              <a:t>s.year</a:t>
            </a:r>
            <a:r>
              <a:rPr lang="en-US" sz="950" dirty="0"/>
              <a:t>, </a:t>
            </a:r>
            <a:r>
              <a:rPr lang="en-US" sz="950" dirty="0" err="1"/>
              <a:t>a.sold_price</a:t>
            </a:r>
            <a:r>
              <a:rPr lang="en-US" sz="950" dirty="0"/>
              <a:t> DESC;</a:t>
            </a:r>
          </a:p>
        </p:txBody>
      </p:sp>
      <p:sp>
        <p:nvSpPr>
          <p:cNvPr id="20" name="Shape 18"/>
          <p:cNvSpPr/>
          <p:nvPr/>
        </p:nvSpPr>
        <p:spPr>
          <a:xfrm>
            <a:off x="6455664" y="4118066"/>
            <a:ext cx="4983480" cy="2011680"/>
          </a:xfrm>
          <a:prstGeom prst="roundRect">
            <a:avLst>
              <a:gd name="adj" fmla="val 2727"/>
            </a:avLst>
          </a:prstGeom>
          <a:solidFill>
            <a:srgbClr val="FFF0E8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583680" y="4114800"/>
            <a:ext cx="47640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Insight:  </a:t>
            </a:r>
            <a:r>
              <a:rPr lang="en-US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298 auction records (about half) were priced above their own team's season average — e.g. Patrick Wells at ₹3Cr for Punjab Kings, 2015.</a:t>
            </a:r>
            <a:endParaRPr 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— WINDOW FUNCTIONS, SUBQUERIES &amp; CTES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5532120" cy="5532120"/>
          </a:xfrm>
          <a:prstGeom prst="roundRect">
            <a:avLst>
              <a:gd name="adj" fmla="val 1322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13232" y="1033272"/>
            <a:ext cx="457200" cy="45720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13232" y="10332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325880" y="996696"/>
            <a:ext cx="4434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2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Consistency Query (Multi-Step CTE)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1645920"/>
            <a:ext cx="4983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chained CTEs: per-match runs → each player's own average → count of matches beating their personal average.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31520" y="2267712"/>
            <a:ext cx="4983480" cy="1618488"/>
          </a:xfrm>
          <a:prstGeom prst="roundRect">
            <a:avLst>
              <a:gd name="adj" fmla="val 3871"/>
            </a:avLst>
          </a:prstGeom>
          <a:solidFill>
            <a:srgbClr val="EDEFF3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41248" y="2338998"/>
            <a:ext cx="4764024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15000"/>
              </a:lnSpc>
            </a:pPr>
            <a:r>
              <a:rPr lang="en-US" sz="950" dirty="0">
                <a:solidFill>
                  <a:srgbClr val="2029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 </a:t>
            </a:r>
            <a:r>
              <a:rPr lang="en-US" sz="950" dirty="0" err="1">
                <a:solidFill>
                  <a:srgbClr val="2029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player_match_runs</a:t>
            </a:r>
            <a:r>
              <a:rPr lang="en-US" sz="950" dirty="0">
                <a:solidFill>
                  <a:srgbClr val="2029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AS (...),</a:t>
            </a:r>
          </a:p>
          <a:p>
            <a:pPr>
              <a:lnSpc>
                <a:spcPct val="115000"/>
              </a:lnSpc>
            </a:pPr>
            <a:r>
              <a:rPr lang="en-US" sz="950" dirty="0" err="1">
                <a:solidFill>
                  <a:srgbClr val="2029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player_avg</a:t>
            </a:r>
            <a:r>
              <a:rPr lang="en-US" sz="950" dirty="0">
                <a:solidFill>
                  <a:srgbClr val="2029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AS (...),</a:t>
            </a:r>
          </a:p>
          <a:p>
            <a:pPr>
              <a:lnSpc>
                <a:spcPct val="115000"/>
              </a:lnSpc>
            </a:pPr>
            <a:r>
              <a:rPr lang="en-US" sz="950" dirty="0" err="1">
                <a:solidFill>
                  <a:srgbClr val="2029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above_avg_matches</a:t>
            </a:r>
            <a:r>
              <a:rPr lang="en-US" sz="950" dirty="0">
                <a:solidFill>
                  <a:srgbClr val="2029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AS (...)</a:t>
            </a:r>
          </a:p>
          <a:p>
            <a:pPr>
              <a:lnSpc>
                <a:spcPct val="115000"/>
              </a:lnSpc>
            </a:pPr>
            <a:r>
              <a:rPr lang="en-US" sz="950" dirty="0">
                <a:solidFill>
                  <a:srgbClr val="2029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</a:t>
            </a:r>
            <a:r>
              <a:rPr lang="en-US" sz="950" dirty="0" err="1">
                <a:solidFill>
                  <a:srgbClr val="2029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p.player_name</a:t>
            </a:r>
            <a:r>
              <a:rPr lang="en-US" sz="950" dirty="0">
                <a:solidFill>
                  <a:srgbClr val="2029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COUNT(*) AS </a:t>
            </a:r>
            <a:r>
              <a:rPr lang="en-US" sz="950" dirty="0" err="1">
                <a:solidFill>
                  <a:srgbClr val="2029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matches_above_own_avg</a:t>
            </a:r>
            <a:endParaRPr lang="en-US" sz="950" dirty="0">
              <a:solidFill>
                <a:srgbClr val="20293A"/>
              </a:solidFill>
              <a:latin typeface="Courier New" pitchFamily="34" charset="0"/>
              <a:ea typeface="Courier New" pitchFamily="34" charset="-122"/>
              <a:cs typeface="Courier New" pitchFamily="34" charset="-120"/>
            </a:endParaRPr>
          </a:p>
          <a:p>
            <a:pPr>
              <a:lnSpc>
                <a:spcPct val="115000"/>
              </a:lnSpc>
            </a:pPr>
            <a:r>
              <a:rPr lang="en-US" sz="950" dirty="0">
                <a:solidFill>
                  <a:srgbClr val="2029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</a:t>
            </a:r>
            <a:r>
              <a:rPr lang="en-US" sz="950" dirty="0" err="1">
                <a:solidFill>
                  <a:srgbClr val="2029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above_avg_matches</a:t>
            </a:r>
            <a:r>
              <a:rPr lang="en-US" sz="950" dirty="0">
                <a:solidFill>
                  <a:srgbClr val="2029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 err="1">
                <a:solidFill>
                  <a:srgbClr val="2029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aam</a:t>
            </a:r>
            <a:endParaRPr lang="en-US" sz="950" dirty="0">
              <a:solidFill>
                <a:srgbClr val="20293A"/>
              </a:solidFill>
              <a:latin typeface="Courier New" pitchFamily="34" charset="0"/>
              <a:ea typeface="Courier New" pitchFamily="34" charset="-122"/>
              <a:cs typeface="Courier New" pitchFamily="34" charset="-120"/>
            </a:endParaRPr>
          </a:p>
          <a:p>
            <a:pPr>
              <a:lnSpc>
                <a:spcPct val="115000"/>
              </a:lnSpc>
            </a:pPr>
            <a:r>
              <a:rPr lang="en-US" sz="950" dirty="0">
                <a:solidFill>
                  <a:srgbClr val="2029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 players p ON </a:t>
            </a:r>
            <a:r>
              <a:rPr lang="en-US" sz="950" dirty="0" err="1">
                <a:solidFill>
                  <a:srgbClr val="2029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aam.player_id</a:t>
            </a:r>
            <a:r>
              <a:rPr lang="en-US" sz="950" dirty="0">
                <a:solidFill>
                  <a:srgbClr val="2029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r>
              <a:rPr lang="en-US" sz="950" dirty="0" err="1">
                <a:solidFill>
                  <a:srgbClr val="2029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p.player_idGROUP</a:t>
            </a:r>
            <a:r>
              <a:rPr lang="en-US" sz="950" dirty="0">
                <a:solidFill>
                  <a:srgbClr val="2029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BY </a:t>
            </a:r>
            <a:r>
              <a:rPr lang="en-US" sz="950" dirty="0" err="1">
                <a:solidFill>
                  <a:srgbClr val="2029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p.player_name</a:t>
            </a:r>
            <a:endParaRPr lang="en-US" sz="950" dirty="0">
              <a:solidFill>
                <a:srgbClr val="20293A"/>
              </a:solidFill>
              <a:latin typeface="Courier New" pitchFamily="34" charset="0"/>
              <a:ea typeface="Courier New" pitchFamily="34" charset="-122"/>
              <a:cs typeface="Courier New" pitchFamily="34" charset="-120"/>
            </a:endParaRPr>
          </a:p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2029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HAVING COUNT(*) &gt;= 3</a:t>
            </a:r>
          </a:p>
          <a:p>
            <a:pPr>
              <a:lnSpc>
                <a:spcPct val="115000"/>
              </a:lnSpc>
            </a:pPr>
            <a:r>
              <a:rPr lang="en-US" sz="950" dirty="0">
                <a:solidFill>
                  <a:srgbClr val="2029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 </a:t>
            </a:r>
            <a:r>
              <a:rPr lang="en-US" sz="950" dirty="0" err="1">
                <a:solidFill>
                  <a:srgbClr val="2029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matches_above_own_avg</a:t>
            </a:r>
            <a:r>
              <a:rPr lang="en-US" sz="950" dirty="0">
                <a:solidFill>
                  <a:srgbClr val="2029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DESC;</a:t>
            </a:r>
          </a:p>
        </p:txBody>
      </p:sp>
      <p:sp>
        <p:nvSpPr>
          <p:cNvPr id="11" name="Shape 9"/>
          <p:cNvSpPr/>
          <p:nvPr/>
        </p:nvSpPr>
        <p:spPr>
          <a:xfrm>
            <a:off x="731520" y="4023360"/>
            <a:ext cx="4983480" cy="2011680"/>
          </a:xfrm>
          <a:prstGeom prst="roundRect">
            <a:avLst>
              <a:gd name="adj" fmla="val 2727"/>
            </a:avLst>
          </a:prstGeom>
          <a:solidFill>
            <a:srgbClr val="FFF0E8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41248" y="4114800"/>
            <a:ext cx="47640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Insight:  </a:t>
            </a:r>
            <a:r>
              <a:rPr lang="en-US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one of the 176 players cleared their own average in at least 3 matches — Mark Cannon the most consistent, doing so 48 times.</a:t>
            </a: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6199632" y="777240"/>
            <a:ext cx="5532120" cy="5532120"/>
          </a:xfrm>
          <a:prstGeom prst="roundRect">
            <a:avLst>
              <a:gd name="adj" fmla="val 1322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55664" y="1033272"/>
            <a:ext cx="457200" cy="45720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455664" y="10332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7068312" y="996696"/>
            <a:ext cx="4434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2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Death-Overs (16–20) Economy Leaderboard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6473952" y="1645920"/>
            <a:ext cx="4983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Filters ball_by_ball to overs 16–20, sums runs conceded, and divides by an approximate overs-bowled count.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473952" y="2468880"/>
            <a:ext cx="4983480" cy="1417320"/>
          </a:xfrm>
          <a:prstGeom prst="roundRect">
            <a:avLst>
              <a:gd name="adj" fmla="val 3871"/>
            </a:avLst>
          </a:prstGeom>
          <a:solidFill>
            <a:srgbClr val="EDEFF3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583680" y="2542032"/>
            <a:ext cx="476402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15000"/>
              </a:lnSpc>
            </a:pPr>
            <a:r>
              <a:rPr lang="en-US" sz="950" dirty="0"/>
              <a:t>WHERE </a:t>
            </a:r>
            <a:r>
              <a:rPr lang="en-US" sz="950" dirty="0" err="1"/>
              <a:t>over_number</a:t>
            </a:r>
            <a:r>
              <a:rPr lang="en-US" sz="950" dirty="0"/>
              <a:t> BETWEEN 16 AND 20</a:t>
            </a:r>
          </a:p>
          <a:p>
            <a:pPr>
              <a:lnSpc>
                <a:spcPct val="115000"/>
              </a:lnSpc>
            </a:pPr>
            <a:r>
              <a:rPr lang="en-US" sz="950" dirty="0"/>
              <a:t>...</a:t>
            </a:r>
          </a:p>
          <a:p>
            <a:pPr>
              <a:lnSpc>
                <a:spcPct val="115000"/>
              </a:lnSpc>
            </a:pPr>
            <a:r>
              <a:rPr lang="en-US" sz="950" dirty="0"/>
              <a:t>SUM(</a:t>
            </a:r>
            <a:r>
              <a:rPr lang="en-US" sz="950" dirty="0" err="1"/>
              <a:t>runs_scored</a:t>
            </a:r>
            <a:r>
              <a:rPr lang="en-US" sz="950" dirty="0"/>
              <a:t> + extras) AS </a:t>
            </a:r>
            <a:r>
              <a:rPr lang="en-US" sz="950" dirty="0" err="1"/>
              <a:t>runs_conceded</a:t>
            </a:r>
            <a:r>
              <a:rPr lang="en-US" sz="950" dirty="0"/>
              <a:t>,</a:t>
            </a:r>
          </a:p>
          <a:p>
            <a:pPr>
              <a:lnSpc>
                <a:spcPct val="115000"/>
              </a:lnSpc>
            </a:pPr>
            <a:r>
              <a:rPr lang="en-US" sz="950" dirty="0"/>
              <a:t>COUNT(*) / 6.0 AS </a:t>
            </a:r>
            <a:r>
              <a:rPr lang="en-US" sz="950" dirty="0" err="1"/>
              <a:t>overs_bowled_approx</a:t>
            </a:r>
            <a:endParaRPr lang="en-US" sz="950" dirty="0"/>
          </a:p>
          <a:p>
            <a:pPr>
              <a:lnSpc>
                <a:spcPct val="115000"/>
              </a:lnSpc>
            </a:pPr>
            <a:r>
              <a:rPr lang="en-US" sz="950" dirty="0"/>
              <a:t>...</a:t>
            </a:r>
          </a:p>
          <a:p>
            <a:pPr>
              <a:lnSpc>
                <a:spcPct val="115000"/>
              </a:lnSpc>
            </a:pPr>
            <a:r>
              <a:rPr lang="en-US" sz="950" dirty="0" err="1"/>
              <a:t>runs_conceded</a:t>
            </a:r>
            <a:r>
              <a:rPr lang="en-US" sz="950" dirty="0"/>
              <a:t> / </a:t>
            </a:r>
            <a:r>
              <a:rPr lang="en-US" sz="950" dirty="0" err="1"/>
              <a:t>overs_bowled_approx</a:t>
            </a:r>
            <a:r>
              <a:rPr lang="en-US" sz="950" dirty="0"/>
              <a:t> AS </a:t>
            </a:r>
            <a:r>
              <a:rPr lang="en-US" sz="950" dirty="0" err="1"/>
              <a:t>economy_rate</a:t>
            </a:r>
            <a:endParaRPr lang="en-US" sz="950" dirty="0"/>
          </a:p>
          <a:p>
            <a:pPr>
              <a:lnSpc>
                <a:spcPct val="115000"/>
              </a:lnSpc>
            </a:pPr>
            <a:r>
              <a:rPr lang="en-US" sz="950" dirty="0"/>
              <a:t>ORDER BY </a:t>
            </a:r>
            <a:r>
              <a:rPr lang="en-US" sz="950" dirty="0" err="1"/>
              <a:t>economy_rate</a:t>
            </a:r>
            <a:r>
              <a:rPr lang="en-US" sz="950" dirty="0"/>
              <a:t> ASC LIMIT 5;</a:t>
            </a:r>
          </a:p>
        </p:txBody>
      </p:sp>
      <p:sp>
        <p:nvSpPr>
          <p:cNvPr id="20" name="Shape 18"/>
          <p:cNvSpPr/>
          <p:nvPr/>
        </p:nvSpPr>
        <p:spPr>
          <a:xfrm>
            <a:off x="6473952" y="4023360"/>
            <a:ext cx="4983480" cy="2011680"/>
          </a:xfrm>
          <a:prstGeom prst="roundRect">
            <a:avLst>
              <a:gd name="adj" fmla="val 2727"/>
            </a:avLst>
          </a:prstGeom>
          <a:solidFill>
            <a:srgbClr val="FFF0E8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583680" y="4114800"/>
            <a:ext cx="47640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Insight:  </a:t>
            </a:r>
            <a:r>
              <a:rPr lang="en-US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Steven Gilbert posts the best death-overs economy (5.08) — though based on a 20-ball sample per innings, so treat this as a methodology template.</a:t>
            </a:r>
            <a:endParaRPr lang="en-US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C36"/>
          </a:solidFill>
          <a:ln/>
        </p:spPr>
      </p:sp>
      <p:sp>
        <p:nvSpPr>
          <p:cNvPr id="3" name="Shape 1"/>
          <p:cNvSpPr/>
          <p:nvPr/>
        </p:nvSpPr>
        <p:spPr>
          <a:xfrm>
            <a:off x="-1828800" y="-1828800"/>
            <a:ext cx="5029200" cy="5029200"/>
          </a:xfrm>
          <a:prstGeom prst="ellipse">
            <a:avLst/>
          </a:prstGeom>
          <a:solidFill>
            <a:srgbClr val="12294B"/>
          </a:solidFill>
          <a:ln/>
        </p:spPr>
      </p:sp>
      <p:sp>
        <p:nvSpPr>
          <p:cNvPr id="4" name="Shape 2"/>
          <p:cNvSpPr/>
          <p:nvPr/>
        </p:nvSpPr>
        <p:spPr>
          <a:xfrm>
            <a:off x="9601200" y="4114800"/>
            <a:ext cx="4572000" cy="4572000"/>
          </a:xfrm>
          <a:prstGeom prst="ellipse">
            <a:avLst/>
          </a:prstGeom>
          <a:solidFill>
            <a:srgbClr val="12294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82296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822960" y="1993392"/>
            <a:ext cx="128016" cy="128016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188720" y="1847088"/>
            <a:ext cx="9875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E6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schema, a full range of SQL technique: basic joins through window functions, subqueries, CTEs, and a self-join, all on the same 8 tables.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22960" y="2862072"/>
            <a:ext cx="128016" cy="128016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188720" y="2715768"/>
            <a:ext cx="9875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E6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query was run and validated against the live dataset — not just written, but proven correct.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22960" y="3730752"/>
            <a:ext cx="128016" cy="128016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188720" y="3584448"/>
            <a:ext cx="9875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E6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Realistic limitations were surfaced along the way (sampled ball-by-ball data, independently-random runs/balls) — and documented rather than hidden.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22960" y="4599432"/>
            <a:ext cx="128016" cy="128016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188720" y="4453128"/>
            <a:ext cx="9875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E6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ready template: swap in real IPL data and every query here still runs unchanged.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59436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FF6B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 — questions welcome.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117</TotalTime>
  <Words>2759</Words>
  <Application>Microsoft Office PowerPoint</Application>
  <PresentationFormat>Widescreen</PresentationFormat>
  <Paragraphs>295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Indrajeet Mourya</cp:lastModifiedBy>
  <cp:revision>3</cp:revision>
  <dcterms:created xsi:type="dcterms:W3CDTF">2026-09-05T08:10:40Z</dcterms:created>
  <dcterms:modified xsi:type="dcterms:W3CDTF">2026-09-06T06:47:38Z</dcterms:modified>
</cp:coreProperties>
</file>